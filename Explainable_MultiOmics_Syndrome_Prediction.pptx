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mrita_logo.png"/>
          <p:cNvPicPr>
            <a:picLocks noChangeAspect="1"/>
          </p:cNvPicPr>
          <p:nvPr/>
        </p:nvPicPr>
        <p:blipFill>
          <a:blip r:embed="rId2"/>
          <a:stretch>
            <a:fillRect/>
          </a:stretch>
        </p:blipFill>
        <p:spPr>
          <a:xfrm>
            <a:off x="4023360" y="640080"/>
            <a:ext cx="4114800" cy="1116419"/>
          </a:xfrm>
          <a:prstGeom prst="rect">
            <a:avLst/>
          </a:prstGeom>
        </p:spPr>
      </p:pic>
      <p:sp>
        <p:nvSpPr>
          <p:cNvPr id="3" name="TextBox 2"/>
          <p:cNvSpPr txBox="1"/>
          <p:nvPr/>
        </p:nvSpPr>
        <p:spPr>
          <a:xfrm>
            <a:off x="1371600" y="1920240"/>
            <a:ext cx="9448495" cy="1280160"/>
          </a:xfrm>
          <a:prstGeom prst="rect">
            <a:avLst/>
          </a:prstGeom>
          <a:noFill/>
        </p:spPr>
        <p:txBody>
          <a:bodyPr wrap="square">
            <a:spAutoFit/>
          </a:bodyPr>
          <a:lstStyle/>
          <a:p>
            <a:pPr algn="ctr">
              <a:defRPr sz="3200" b="1">
                <a:solidFill>
                  <a:srgbClr val="0F172A"/>
                </a:solidFill>
                <a:latin typeface="Arial"/>
              </a:defRPr>
            </a:pPr>
            <a:r>
              <a:t>Explainable Multi-Omics Framework for</a:t>
            </a:r>
            <a:br/>
            <a:r>
              <a:t>Genetic Syndrome Prediction</a:t>
            </a:r>
          </a:p>
        </p:txBody>
      </p:sp>
      <p:sp>
        <p:nvSpPr>
          <p:cNvPr id="4" name="TextBox 3"/>
          <p:cNvSpPr txBox="1"/>
          <p:nvPr/>
        </p:nvSpPr>
        <p:spPr>
          <a:xfrm>
            <a:off x="1371600" y="3291840"/>
            <a:ext cx="9448495" cy="457200"/>
          </a:xfrm>
          <a:prstGeom prst="rect">
            <a:avLst/>
          </a:prstGeom>
          <a:noFill/>
        </p:spPr>
        <p:txBody>
          <a:bodyPr wrap="none">
            <a:spAutoFit/>
          </a:bodyPr>
          <a:lstStyle/>
          <a:p>
            <a:pPr algn="ctr">
              <a:defRPr sz="1400">
                <a:solidFill>
                  <a:srgbClr val="0284C7"/>
                </a:solidFill>
                <a:latin typeface="Arial"/>
              </a:defRPr>
            </a:pPr>
            <a:r>
              <a:t>Integrating ComBat Harmonization, L1 Convex Optimization, Dual-Kernel SVM, and SHAP Explainability</a:t>
            </a:r>
          </a:p>
        </p:txBody>
      </p:sp>
      <p:sp>
        <p:nvSpPr>
          <p:cNvPr id="5" name="Rounded Rectangle 4"/>
          <p:cNvSpPr/>
          <p:nvPr/>
        </p:nvSpPr>
        <p:spPr>
          <a:xfrm>
            <a:off x="2011680" y="3931920"/>
            <a:ext cx="8168335" cy="2377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94560" y="4069080"/>
            <a:ext cx="7802575" cy="2103120"/>
          </a:xfrm>
          <a:prstGeom prst="rect">
            <a:avLst/>
          </a:prstGeom>
          <a:noFill/>
        </p:spPr>
        <p:txBody>
          <a:bodyPr wrap="none">
            <a:spAutoFit/>
          </a:bodyPr>
          <a:lstStyle/>
          <a:p>
            <a:pPr algn="ctr">
              <a:defRPr sz="1600" b="1">
                <a:solidFill>
                  <a:srgbClr val="A21357"/>
                </a:solidFill>
              </a:defRPr>
            </a:pPr>
            <a:r>
              <a:t>GROUP - 12</a:t>
            </a:r>
          </a:p>
          <a:p>
            <a:pPr algn="ctr">
              <a:defRPr sz="1200">
                <a:solidFill>
                  <a:srgbClr val="334155"/>
                </a:solidFill>
              </a:defRPr>
            </a:pPr>
            <a:r>
              <a:t>HEMANTH (CB.AI.U4CPS25019)   •   NITHIN (CB.AI.U4CPS25033)   •   PRANESH (CB.AI.U4CPS25040)</a:t>
            </a:r>
          </a:p>
          <a:p>
            <a:pPr algn="ctr">
              <a:defRPr sz="1200">
                <a:solidFill>
                  <a:srgbClr val="334155"/>
                </a:solidFill>
              </a:defRPr>
            </a:pPr>
            <a:r>
              <a:t>DHANDAPANI (CB.AI.U4CPS25054)   •   VIKASH S S (CB.AI.U4CPS25044)</a:t>
            </a:r>
          </a:p>
          <a:p>
            <a:pPr algn="ctr">
              <a:defRPr sz="1100">
                <a:solidFill>
                  <a:srgbClr val="64748B"/>
                </a:solidFill>
              </a:defRPr>
            </a:pPr>
            <a:br/>
            <a:r>
              <a:t>Department of Computer Science and Engineering (Cyber Physical Systems)</a:t>
            </a:r>
            <a:br/>
            <a:r>
              <a:t>Amrita Vishwa Vidyapeetham, Coimbatore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 BIOLOGICAL CONTEXT</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Introduction &amp; Biological Foundations</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754880" cy="4572000"/>
          </a:xfrm>
          <a:prstGeom prst="rect">
            <a:avLst/>
          </a:prstGeom>
          <a:noFill/>
        </p:spPr>
        <p:txBody>
          <a:bodyPr wrap="square">
            <a:spAutoFit/>
          </a:bodyPr>
          <a:lstStyle/>
          <a:p>
            <a:pPr>
              <a:defRPr sz="1600" b="1">
                <a:solidFill>
                  <a:srgbClr val="0F172A"/>
                </a:solidFill>
              </a:defRPr>
            </a:pPr>
            <a:r>
              <a:t>Biological Mechanism of Genetic Syndromes</a:t>
            </a:r>
          </a:p>
          <a:p>
            <a:pPr>
              <a:defRPr sz="1200">
                <a:solidFill>
                  <a:srgbClr val="334155"/>
                </a:solidFill>
              </a:defRPr>
            </a:pPr>
            <a:r>
              <a:t>• Genetic syndromes arise from constitutional chromosomal abnormalities (aneuploidies, microdeletions, or structural rearrangements).</a:t>
            </a:r>
          </a:p>
          <a:p>
            <a:pPr>
              <a:defRPr sz="1200">
                <a:solidFill>
                  <a:srgbClr val="334155"/>
                </a:solidFill>
              </a:defRPr>
            </a:pPr>
            <a:r>
              <a:t>• Gene Dosage Imbalance: Copy number changes (+50% in trisomies, -50% in hemizygous deletions) directly alter primary transcript abundance.</a:t>
            </a:r>
          </a:p>
          <a:p>
            <a:pPr>
              <a:defRPr sz="1200">
                <a:solidFill>
                  <a:srgbClr val="334155"/>
                </a:solidFill>
              </a:defRPr>
            </a:pPr>
            <a:r>
              <a:t>• Stoichiometric Disruption: Disrupted stoichiometric ratios cascade through macromolecular protein complexes, distorting cellular homeostasis.</a:t>
            </a:r>
          </a:p>
          <a:p>
            <a:pPr>
              <a:defRPr sz="1200">
                <a:solidFill>
                  <a:srgbClr val="334155"/>
                </a:solidFill>
              </a:defRPr>
            </a:pPr>
            <a:r>
              <a:t>• Downstream Dysregulation: Secondary multi-omics effects involve epigenetic remodeling, altered transcription factor networks, and metabolic stress.</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46320" cy="4572000"/>
          </a:xfrm>
          <a:prstGeom prst="rect">
            <a:avLst/>
          </a:prstGeom>
          <a:noFill/>
        </p:spPr>
        <p:txBody>
          <a:bodyPr wrap="square">
            <a:spAutoFit/>
          </a:bodyPr>
          <a:lstStyle/>
          <a:p>
            <a:pPr>
              <a:defRPr sz="1600" b="1">
                <a:solidFill>
                  <a:srgbClr val="A21357"/>
                </a:solidFill>
              </a:defRPr>
            </a:pPr>
            <a:r>
              <a:t>Target Genetic Syndromes in This Study</a:t>
            </a:r>
          </a:p>
          <a:p>
            <a:pPr>
              <a:defRPr sz="1200" b="1">
                <a:solidFill>
                  <a:srgbClr val="0F172A"/>
                </a:solidFill>
              </a:defRPr>
            </a:pPr>
            <a:r>
              <a:t>• Down Syndrome (Trisomy 21) [47,XX,+21 or 47,XY,+21]</a:t>
            </a:r>
          </a:p>
          <a:p>
            <a:pPr>
              <a:defRPr sz="1100">
                <a:solidFill>
                  <a:srgbClr val="334155"/>
                </a:solidFill>
              </a:defRPr>
            </a:pPr>
            <a:r>
              <a:t>   Supernumerary copy of chromosome 21; causes neurological impairment, early Alzheimer pathology, and congenital heart defects (APP, DYRK1A).</a:t>
            </a:r>
          </a:p>
          <a:p>
            <a:pPr>
              <a:defRPr sz="1200" b="1">
                <a:solidFill>
                  <a:srgbClr val="0F172A"/>
                </a:solidFill>
              </a:defRPr>
            </a:pPr>
            <a:r>
              <a:t>• Turner Syndrome (Monosomy X) [45,X]</a:t>
            </a:r>
          </a:p>
          <a:p>
            <a:pPr>
              <a:defRPr sz="1100">
                <a:solidFill>
                  <a:srgbClr val="334155"/>
                </a:solidFill>
              </a:defRPr>
            </a:pPr>
            <a:r>
              <a:t>   Complete absence of one sex chromosome in phenotypic females; total absence of XIST expression and SHOX haploinsufficiency (short stature, gonadal dysgenesis).</a:t>
            </a:r>
          </a:p>
          <a:p>
            <a:pPr>
              <a:defRPr sz="1200" b="1">
                <a:solidFill>
                  <a:srgbClr val="0F172A"/>
                </a:solidFill>
              </a:defRPr>
            </a:pPr>
            <a:r>
              <a:t>• Klinefelter Syndrome (XXY) [47,XXY]</a:t>
            </a:r>
          </a:p>
          <a:p>
            <a:pPr>
              <a:defRPr sz="1100">
                <a:solidFill>
                  <a:srgbClr val="334155"/>
                </a:solidFill>
              </a:defRPr>
            </a:pPr>
            <a:r>
              <a:t>   Supernumerary X chromosome in phenotypic males; causes hypogonadism, ectopic male XIST induction, and pseudoautosomal PAR1 over-expression.</a:t>
            </a:r>
          </a:p>
          <a:p>
            <a:pPr>
              <a:defRPr sz="1200" b="1">
                <a:solidFill>
                  <a:srgbClr val="0F172A"/>
                </a:solidFill>
              </a:defRPr>
            </a:pPr>
            <a:r>
              <a:t>• 22q11.2 Deletion (DiGeorge) [46,XX,del(22)(q11.2)]</a:t>
            </a:r>
          </a:p>
          <a:p>
            <a:pPr>
              <a:defRPr sz="1100">
                <a:solidFill>
                  <a:srgbClr val="334155"/>
                </a:solidFill>
              </a:defRPr>
            </a:pPr>
            <a:r>
              <a:t>   Heterozygous microdeletion of 3.0 Mb (LCR22A-D); causes pharyngeal arch neural crest defect, conotruncal heart anomalies, and immunodeficiency (TBX1, COMT).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2. PROBLEM DEFINITION</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Problem Statement &amp; Clinical Motivation</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892040" cy="1874519"/>
          </a:xfrm>
          <a:prstGeom prst="rect">
            <a:avLst/>
          </a:prstGeom>
          <a:noFill/>
        </p:spPr>
        <p:txBody>
          <a:bodyPr wrap="square">
            <a:spAutoFit/>
          </a:bodyPr>
          <a:lstStyle/>
          <a:p>
            <a:pPr>
              <a:defRPr sz="1400" b="1">
                <a:solidFill>
                  <a:srgbClr val="0F172A"/>
                </a:solidFill>
              </a:defRPr>
            </a:pPr>
            <a:r>
              <a:t>1. Limitations of Cytogenetic Testing</a:t>
            </a:r>
          </a:p>
          <a:p>
            <a:pPr>
              <a:defRPr sz="1150">
                <a:solidFill>
                  <a:srgbClr val="334155"/>
                </a:solidFill>
              </a:defRPr>
            </a:pPr>
            <a:r>
              <a:t>Current gold-standard diagnosis relies on karyotyping, FISH, and chromosomal microarray (CMA). While they detect macroscopic structural defects, they provide zero insight into downstream functional gene expression, secondary regulatory cascades, or variable clinical penetrance.</a:t>
            </a:r>
          </a:p>
        </p:txBody>
      </p:sp>
      <p:sp>
        <p:nvSpPr>
          <p:cNvPr id="8" name="Rounded Rectangle 7"/>
          <p:cNvSpPr/>
          <p:nvPr/>
        </p:nvSpPr>
        <p:spPr>
          <a:xfrm>
            <a:off x="6172200" y="137160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554480"/>
            <a:ext cx="4892040" cy="1874519"/>
          </a:xfrm>
          <a:prstGeom prst="rect">
            <a:avLst/>
          </a:prstGeom>
          <a:noFill/>
        </p:spPr>
        <p:txBody>
          <a:bodyPr wrap="square">
            <a:spAutoFit/>
          </a:bodyPr>
          <a:lstStyle/>
          <a:p>
            <a:pPr>
              <a:defRPr sz="1400" b="1">
                <a:solidFill>
                  <a:srgbClr val="0F172A"/>
                </a:solidFill>
              </a:defRPr>
            </a:pPr>
            <a:r>
              <a:t>2. The High-Dimensional Curse (p &gt;&gt; n)</a:t>
            </a:r>
          </a:p>
          <a:p>
            <a:pPr>
              <a:defRPr sz="1150">
                <a:solidFill>
                  <a:srgbClr val="334155"/>
                </a:solidFill>
              </a:defRPr>
            </a:pPr>
            <a:r>
              <a:t>High-throughput genomic transcriptomics profiles 20,000+ genes across modest cohort sizes (hundreds of patients). This extreme dimensionality (p &gt;&gt; n) leads to catastrophic overfitting, multicollinearity, and mathematical singularity in conventional machine learning.</a:t>
            </a:r>
          </a:p>
        </p:txBody>
      </p:sp>
      <p:sp>
        <p:nvSpPr>
          <p:cNvPr id="10" name="Rounded Rectangle 9"/>
          <p:cNvSpPr/>
          <p:nvPr/>
        </p:nvSpPr>
        <p:spPr>
          <a:xfrm>
            <a:off x="731520" y="384048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23360"/>
            <a:ext cx="4892040" cy="1874519"/>
          </a:xfrm>
          <a:prstGeom prst="rect">
            <a:avLst/>
          </a:prstGeom>
          <a:noFill/>
        </p:spPr>
        <p:txBody>
          <a:bodyPr wrap="square">
            <a:spAutoFit/>
          </a:bodyPr>
          <a:lstStyle/>
          <a:p>
            <a:pPr>
              <a:defRPr sz="1400" b="1">
                <a:solidFill>
                  <a:srgbClr val="A21357"/>
                </a:solidFill>
              </a:defRPr>
            </a:pPr>
            <a:r>
              <a:t>3. Inter-Laboratory Batch Variations</a:t>
            </a:r>
          </a:p>
          <a:p>
            <a:pPr>
              <a:defRPr sz="1150">
                <a:solidFill>
                  <a:srgbClr val="334155"/>
                </a:solidFill>
              </a:defRPr>
            </a:pPr>
            <a:r>
              <a:t>Multi-omics datasets aggregated across independent medical centers and microarray platforms (Affymetrix HG-U133 vs. Illumina HumanHT-12) suffer from severe technical batch artifacts that obscure true biological syndrome signals.</a:t>
            </a:r>
          </a:p>
        </p:txBody>
      </p:sp>
      <p:sp>
        <p:nvSpPr>
          <p:cNvPr id="12" name="Rounded Rectangle 11"/>
          <p:cNvSpPr/>
          <p:nvPr/>
        </p:nvSpPr>
        <p:spPr>
          <a:xfrm>
            <a:off x="6172200" y="384048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4023360"/>
            <a:ext cx="4892040" cy="1874519"/>
          </a:xfrm>
          <a:prstGeom prst="rect">
            <a:avLst/>
          </a:prstGeom>
          <a:noFill/>
        </p:spPr>
        <p:txBody>
          <a:bodyPr wrap="square">
            <a:spAutoFit/>
          </a:bodyPr>
          <a:lstStyle/>
          <a:p>
            <a:pPr>
              <a:defRPr sz="1400" b="1">
                <a:solidFill>
                  <a:srgbClr val="A21357"/>
                </a:solidFill>
              </a:defRPr>
            </a:pPr>
            <a:r>
              <a:t>4. The Black-Box Dilemma in Clinical AI</a:t>
            </a:r>
          </a:p>
          <a:p>
            <a:pPr>
              <a:defRPr sz="1150">
                <a:solidFill>
                  <a:srgbClr val="334155"/>
                </a:solidFill>
              </a:defRPr>
            </a:pPr>
            <a:r>
              <a:t>Standard non-linear deep learning and ensemble models act as black boxes. Clinicians cannot adopt diagnostic models without transparent, gene-level mechanistic explanations proving which loci drove the clinical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3. STATE OF THE ART</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Literature Review &amp; Prior Art Comparison</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graphicFrame>
        <p:nvGraphicFramePr>
          <p:cNvPr id="6" name="Table 5"/>
          <p:cNvGraphicFramePr>
            <a:graphicFrameLocks noGrp="1"/>
          </p:cNvGraphicFramePr>
          <p:nvPr/>
        </p:nvGraphicFramePr>
        <p:xfrm>
          <a:off x="731520" y="1463040"/>
          <a:ext cx="10728655" cy="45720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914400">
                <a:tc>
                  <a:txBody>
                    <a:bodyPr/>
                    <a:lstStyle/>
                    <a:p>
                      <a:pPr>
                        <a:defRPr sz="1100" b="1">
                          <a:solidFill>
                            <a:srgbClr val="FFFFFF"/>
                          </a:solidFill>
                        </a:defRPr>
                      </a:pPr>
                      <a:r>
                        <a:t>Author &amp; Year</a:t>
                      </a:r>
                    </a:p>
                  </a:txBody>
                  <a:tcPr>
                    <a:solidFill>
                      <a:srgbClr val="0F172A"/>
                    </a:solidFill>
                  </a:tcPr>
                </a:tc>
                <a:tc>
                  <a:txBody>
                    <a:bodyPr/>
                    <a:lstStyle/>
                    <a:p>
                      <a:pPr>
                        <a:defRPr sz="1100" b="1">
                          <a:solidFill>
                            <a:srgbClr val="FFFFFF"/>
                          </a:solidFill>
                        </a:defRPr>
                      </a:pPr>
                      <a:r>
                        <a:t>Methodology Used</a:t>
                      </a:r>
                    </a:p>
                  </a:txBody>
                  <a:tcPr>
                    <a:solidFill>
                      <a:srgbClr val="0F172A"/>
                    </a:solidFill>
                  </a:tcPr>
                </a:tc>
                <a:tc>
                  <a:txBody>
                    <a:bodyPr/>
                    <a:lstStyle/>
                    <a:p>
                      <a:pPr>
                        <a:defRPr sz="1100" b="1">
                          <a:solidFill>
                            <a:srgbClr val="FFFFFF"/>
                          </a:solidFill>
                        </a:defRPr>
                      </a:pPr>
                      <a:r>
                        <a:t>Identified Research Gap</a:t>
                      </a:r>
                    </a:p>
                  </a:txBody>
                  <a:tcPr>
                    <a:solidFill>
                      <a:srgbClr val="0F172A"/>
                    </a:solidFill>
                  </a:tcPr>
                </a:tc>
                <a:tc>
                  <a:txBody>
                    <a:bodyPr/>
                    <a:lstStyle/>
                    <a:p>
                      <a:pPr>
                        <a:defRPr sz="1100" b="1">
                          <a:solidFill>
                            <a:srgbClr val="FFFFFF"/>
                          </a:solidFill>
                        </a:defRPr>
                      </a:pPr>
                      <a:r>
                        <a:t>What Our Framework Improves</a:t>
                      </a:r>
                    </a:p>
                  </a:txBody>
                  <a:tcPr>
                    <a:solidFill>
                      <a:srgbClr val="0F172A"/>
                    </a:solidFill>
                  </a:tcPr>
                </a:tc>
                <a:extLst>
                  <a:ext uri="{0D108BD9-81ED-4DB2-BD59-A6C34878D82A}">
                    <a16:rowId xmlns:a16="http://schemas.microsoft.com/office/drawing/2014/main" val="10000"/>
                  </a:ext>
                </a:extLst>
              </a:tr>
              <a:tr h="914400">
                <a:tc>
                  <a:txBody>
                    <a:bodyPr/>
                    <a:lstStyle/>
                    <a:p>
                      <a:pPr>
                        <a:defRPr sz="1050">
                          <a:solidFill>
                            <a:srgbClr val="334155"/>
                          </a:solidFill>
                        </a:defRPr>
                      </a:pPr>
                      <a:r>
                        <a:t>Lockstone et al. (2007)</a:t>
                      </a:r>
                    </a:p>
                  </a:txBody>
                  <a:tcPr>
                    <a:solidFill>
                      <a:srgbClr val="FFFFFF"/>
                    </a:solidFill>
                  </a:tcPr>
                </a:tc>
                <a:tc>
                  <a:txBody>
                    <a:bodyPr/>
                    <a:lstStyle/>
                    <a:p>
                      <a:pPr>
                        <a:defRPr sz="1050">
                          <a:solidFill>
                            <a:srgbClr val="334155"/>
                          </a:solidFill>
                        </a:defRPr>
                      </a:pPr>
                      <a:r>
                        <a:t>Microarray-based whole-genome expression profiling in Down syndrome cerebral cortex.</a:t>
                      </a:r>
                    </a:p>
                  </a:txBody>
                  <a:tcPr>
                    <a:solidFill>
                      <a:srgbClr val="FFFFFF"/>
                    </a:solidFill>
                  </a:tcPr>
                </a:tc>
                <a:tc>
                  <a:txBody>
                    <a:bodyPr/>
                    <a:lstStyle/>
                    <a:p>
                      <a:pPr>
                        <a:defRPr sz="1050">
                          <a:solidFill>
                            <a:srgbClr val="334155"/>
                          </a:solidFill>
                        </a:defRPr>
                      </a:pPr>
                      <a:r>
                        <a:t>Biological characterization only; no predictive modeling, no cross-syndrome classification, no XAI.</a:t>
                      </a:r>
                    </a:p>
                  </a:txBody>
                  <a:tcPr>
                    <a:solidFill>
                      <a:srgbClr val="FFFFFF"/>
                    </a:solidFill>
                  </a:tcPr>
                </a:tc>
                <a:tc>
                  <a:txBody>
                    <a:bodyPr/>
                    <a:lstStyle/>
                    <a:p>
                      <a:pPr>
                        <a:defRPr sz="1050" b="1">
                          <a:solidFill>
                            <a:srgbClr val="A21357"/>
                          </a:solidFill>
                        </a:defRPr>
                      </a:pPr>
                      <a:r>
                        <a:t>Unifies Down syndrome with other chromosomal disorders; adds automated ML classification, L1 sparsity, and SHAP.</a:t>
                      </a:r>
                    </a:p>
                  </a:txBody>
                  <a:tcPr>
                    <a:solidFill>
                      <a:srgbClr val="FFFFFF"/>
                    </a:solidFill>
                  </a:tcPr>
                </a:tc>
                <a:extLst>
                  <a:ext uri="{0D108BD9-81ED-4DB2-BD59-A6C34878D82A}">
                    <a16:rowId xmlns:a16="http://schemas.microsoft.com/office/drawing/2014/main" val="10001"/>
                  </a:ext>
                </a:extLst>
              </a:tr>
              <a:tr h="914400">
                <a:tc>
                  <a:txBody>
                    <a:bodyPr/>
                    <a:lstStyle/>
                    <a:p>
                      <a:pPr>
                        <a:defRPr sz="1050">
                          <a:solidFill>
                            <a:srgbClr val="334155"/>
                          </a:solidFill>
                        </a:defRPr>
                      </a:pPr>
                      <a:r>
                        <a:t>Jalbrzikowski et al. (2015)</a:t>
                      </a:r>
                    </a:p>
                  </a:txBody>
                  <a:tcPr>
                    <a:solidFill>
                      <a:srgbClr val="F8FAFC"/>
                    </a:solidFill>
                  </a:tcPr>
                </a:tc>
                <a:tc>
                  <a:txBody>
                    <a:bodyPr/>
                    <a:lstStyle/>
                    <a:p>
                      <a:pPr>
                        <a:defRPr sz="1050">
                          <a:solidFill>
                            <a:srgbClr val="334155"/>
                          </a:solidFill>
                        </a:defRPr>
                      </a:pPr>
                      <a:r>
                        <a:t>Transcriptomics, ComBat batch adjustment, differential expression, and WGCNA in 22q11.2DS.</a:t>
                      </a:r>
                    </a:p>
                  </a:txBody>
                  <a:tcPr>
                    <a:solidFill>
                      <a:srgbClr val="F8FAFC"/>
                    </a:solidFill>
                  </a:tcPr>
                </a:tc>
                <a:tc>
                  <a:txBody>
                    <a:bodyPr/>
                    <a:lstStyle/>
                    <a:p>
                      <a:pPr>
                        <a:defRPr sz="1050">
                          <a:solidFill>
                            <a:srgbClr val="334155"/>
                          </a:solidFill>
                        </a:defRPr>
                      </a:pPr>
                      <a:r>
                        <a:t>Limited exclusively to 22q11.2DS; pathway analysis without actionable predictive classification.</a:t>
                      </a:r>
                    </a:p>
                  </a:txBody>
                  <a:tcPr>
                    <a:solidFill>
                      <a:srgbClr val="F8FAFC"/>
                    </a:solidFill>
                  </a:tcPr>
                </a:tc>
                <a:tc>
                  <a:txBody>
                    <a:bodyPr/>
                    <a:lstStyle/>
                    <a:p>
                      <a:pPr>
                        <a:defRPr sz="1050" b="1">
                          <a:solidFill>
                            <a:srgbClr val="A21357"/>
                          </a:solidFill>
                        </a:defRPr>
                      </a:pPr>
                      <a:r>
                        <a:t>Integrates 22q11.2DS into a unified multi-syndrome meta-classifier; computes exact biomarker Shapley force vectors.</a:t>
                      </a:r>
                    </a:p>
                  </a:txBody>
                  <a:tcPr>
                    <a:solidFill>
                      <a:srgbClr val="F8FAFC"/>
                    </a:solidFill>
                  </a:tcPr>
                </a:tc>
                <a:extLst>
                  <a:ext uri="{0D108BD9-81ED-4DB2-BD59-A6C34878D82A}">
                    <a16:rowId xmlns:a16="http://schemas.microsoft.com/office/drawing/2014/main" val="10002"/>
                  </a:ext>
                </a:extLst>
              </a:tr>
              <a:tr h="914400">
                <a:tc>
                  <a:txBody>
                    <a:bodyPr/>
                    <a:lstStyle/>
                    <a:p>
                      <a:pPr>
                        <a:defRPr sz="1050">
                          <a:solidFill>
                            <a:srgbClr val="334155"/>
                          </a:solidFill>
                        </a:defRPr>
                      </a:pPr>
                      <a:r>
                        <a:t>Ghaddar &amp; Naoum-Sawaya (2018)</a:t>
                      </a:r>
                    </a:p>
                  </a:txBody>
                  <a:tcPr>
                    <a:solidFill>
                      <a:srgbClr val="FFFFFF"/>
                    </a:solidFill>
                  </a:tcPr>
                </a:tc>
                <a:tc>
                  <a:txBody>
                    <a:bodyPr/>
                    <a:lstStyle/>
                    <a:p>
                      <a:pPr>
                        <a:defRPr sz="1050">
                          <a:solidFill>
                            <a:srgbClr val="334155"/>
                          </a:solidFill>
                        </a:defRPr>
                      </a:pPr>
                      <a:r>
                        <a:t>SVM-based high-dimensional feature selection using L1-norm constraints.</a:t>
                      </a:r>
                    </a:p>
                  </a:txBody>
                  <a:tcPr>
                    <a:solidFill>
                      <a:srgbClr val="FFFFFF"/>
                    </a:solidFill>
                  </a:tcPr>
                </a:tc>
                <a:tc>
                  <a:txBody>
                    <a:bodyPr/>
                    <a:lstStyle/>
                    <a:p>
                      <a:pPr>
                        <a:defRPr sz="1050">
                          <a:solidFill>
                            <a:srgbClr val="334155"/>
                          </a:solidFill>
                        </a:defRPr>
                      </a:pPr>
                      <a:r>
                        <a:t>Generic synthetic classification; not designed for multi-cohort biological multi-omics or gene dosage.</a:t>
                      </a:r>
                    </a:p>
                  </a:txBody>
                  <a:tcPr>
                    <a:solidFill>
                      <a:srgbClr val="FFFFFF"/>
                    </a:solidFill>
                  </a:tcPr>
                </a:tc>
                <a:tc>
                  <a:txBody>
                    <a:bodyPr/>
                    <a:lstStyle/>
                    <a:p>
                      <a:pPr>
                        <a:defRPr sz="1050" b="1">
                          <a:solidFill>
                            <a:srgbClr val="A21357"/>
                          </a:solidFill>
                        </a:defRPr>
                      </a:pPr>
                      <a:r>
                        <a:t>Combines convex L1 optimization with empirical Bayes ComBat batch removal, dual kernels, and biological validation.</a:t>
                      </a:r>
                    </a:p>
                  </a:txBody>
                  <a:tcPr>
                    <a:solidFill>
                      <a:srgbClr val="FFFFFF"/>
                    </a:solidFill>
                  </a:tcPr>
                </a:tc>
                <a:extLst>
                  <a:ext uri="{0D108BD9-81ED-4DB2-BD59-A6C34878D82A}">
                    <a16:rowId xmlns:a16="http://schemas.microsoft.com/office/drawing/2014/main" val="10003"/>
                  </a:ext>
                </a:extLst>
              </a:tr>
              <a:tr h="914400">
                <a:tc>
                  <a:txBody>
                    <a:bodyPr/>
                    <a:lstStyle/>
                    <a:p>
                      <a:pPr>
                        <a:defRPr sz="1050">
                          <a:solidFill>
                            <a:srgbClr val="334155"/>
                          </a:solidFill>
                        </a:defRPr>
                      </a:pPr>
                      <a:r>
                        <a:t>Pfeifer et al. (2022)</a:t>
                      </a:r>
                    </a:p>
                  </a:txBody>
                  <a:tcPr>
                    <a:solidFill>
                      <a:srgbClr val="F8FAFC"/>
                    </a:solidFill>
                  </a:tcPr>
                </a:tc>
                <a:tc>
                  <a:txBody>
                    <a:bodyPr/>
                    <a:lstStyle/>
                    <a:p>
                      <a:pPr>
                        <a:defRPr sz="1050">
                          <a:solidFill>
                            <a:srgbClr val="334155"/>
                          </a:solidFill>
                        </a:defRPr>
                      </a:pPr>
                      <a:r>
                        <a:t>Multi-omics integration using Greedy Decision Forest and SHAP explainability.</a:t>
                      </a:r>
                    </a:p>
                  </a:txBody>
                  <a:tcPr>
                    <a:solidFill>
                      <a:srgbClr val="F8FAFC"/>
                    </a:solidFill>
                  </a:tcPr>
                </a:tc>
                <a:tc>
                  <a:txBody>
                    <a:bodyPr/>
                    <a:lstStyle/>
                    <a:p>
                      <a:pPr>
                        <a:defRPr sz="1050">
                          <a:solidFill>
                            <a:srgbClr val="334155"/>
                          </a:solidFill>
                        </a:defRPr>
                      </a:pPr>
                      <a:r>
                        <a:t>General cancer multi-omics; lacks convex feature selection or chromosomal aneuploidy dosage modeling.</a:t>
                      </a:r>
                    </a:p>
                  </a:txBody>
                  <a:tcPr>
                    <a:solidFill>
                      <a:srgbClr val="F8FAFC"/>
                    </a:solidFill>
                  </a:tcPr>
                </a:tc>
                <a:tc>
                  <a:txBody>
                    <a:bodyPr/>
                    <a:lstStyle/>
                    <a:p>
                      <a:pPr>
                        <a:defRPr sz="1050" b="1">
                          <a:solidFill>
                            <a:srgbClr val="A21357"/>
                          </a:solidFill>
                        </a:defRPr>
                      </a:pPr>
                      <a:r>
                        <a:t>Tailored specifically for genetic syndrome dosage alterations; provides mathematical dual-kernel SVM + SHAP.</a:t>
                      </a:r>
                    </a:p>
                  </a:txBody>
                  <a:tcPr>
                    <a:solidFill>
                      <a:srgbClr val="F8FA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4. INNOVATION SCOPE</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Research Gap &amp; Proposed Architecture</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754880" cy="4572000"/>
          </a:xfrm>
          <a:prstGeom prst="rect">
            <a:avLst/>
          </a:prstGeom>
          <a:noFill/>
        </p:spPr>
        <p:txBody>
          <a:bodyPr wrap="square">
            <a:spAutoFit/>
          </a:bodyPr>
          <a:lstStyle/>
          <a:p>
            <a:pPr>
              <a:defRPr sz="1600" b="1">
                <a:solidFill>
                  <a:srgbClr val="A21357"/>
                </a:solidFill>
              </a:defRPr>
            </a:pPr>
            <a:r>
              <a:t>Identified Research Gaps</a:t>
            </a:r>
          </a:p>
          <a:p>
            <a:pPr>
              <a:defRPr sz="1150">
                <a:solidFill>
                  <a:srgbClr val="334155"/>
                </a:solidFill>
              </a:defRPr>
            </a:pPr>
            <a:r>
              <a:t>• Fragmented Syndrome Silos: Prior studies investigate single syndromes in isolation, lacking a unified multi-class architecture capable of differential diagnosis across aneuploidies and microdeletions.</a:t>
            </a:r>
          </a:p>
          <a:p>
            <a:pPr>
              <a:defRPr sz="1150">
                <a:solidFill>
                  <a:srgbClr val="334155"/>
                </a:solidFill>
              </a:defRPr>
            </a:pPr>
            <a:r>
              <a:t>• Unmitigated Batch Artifacts: Cross-platform microarray datasets (Affymetrix vs. Illumina) exhibit strong technical clustering (PC1 variance ~71%), leading models to learn platform bias rather than biology.</a:t>
            </a:r>
          </a:p>
          <a:p>
            <a:pPr>
              <a:defRPr sz="1150">
                <a:solidFill>
                  <a:srgbClr val="334155"/>
                </a:solidFill>
              </a:defRPr>
            </a:pPr>
            <a:r>
              <a:t>• Curse of Dimensionality: 20,441 gene features vs. hundreds of samples cause severe overfitting in standard classifiers.</a:t>
            </a:r>
          </a:p>
          <a:p>
            <a:pPr>
              <a:defRPr sz="1150">
                <a:solidFill>
                  <a:srgbClr val="334155"/>
                </a:solidFill>
              </a:defRPr>
            </a:pPr>
            <a:r>
              <a:t>• Lack of Transparent Explainability: Clinicians cannot interpret deep black-box models without axiomatic gene attribution.</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46320" cy="4572000"/>
          </a:xfrm>
          <a:prstGeom prst="rect">
            <a:avLst/>
          </a:prstGeom>
          <a:noFill/>
        </p:spPr>
        <p:txBody>
          <a:bodyPr wrap="square">
            <a:spAutoFit/>
          </a:bodyPr>
          <a:lstStyle/>
          <a:p>
            <a:pPr>
              <a:defRPr sz="1600" b="1">
                <a:solidFill>
                  <a:srgbClr val="0F172A"/>
                </a:solidFill>
              </a:defRPr>
            </a:pPr>
            <a:r>
              <a:t>Our Proposed Multi-Omics Solution</a:t>
            </a:r>
          </a:p>
          <a:p>
            <a:pPr>
              <a:defRPr sz="1150" b="1">
                <a:solidFill>
                  <a:srgbClr val="0284C7"/>
                </a:solidFill>
              </a:defRPr>
            </a:pPr>
            <a:r>
              <a:t>✔ Unified Multi-Syndrome Integration</a:t>
            </a:r>
          </a:p>
          <a:p>
            <a:pPr>
              <a:defRPr sz="1050">
                <a:solidFill>
                  <a:srgbClr val="334155"/>
                </a:solidFill>
              </a:defRPr>
            </a:pPr>
            <a:r>
              <a:t>   Integrates genomic and transcriptomic datasets across Down syndrome, Turner syndrome, Klinefelter syndrome, 22q11.2DS, and normal diploid controls into one harmonized framework (360 samples).</a:t>
            </a:r>
          </a:p>
          <a:p>
            <a:pPr>
              <a:defRPr sz="1150" b="1">
                <a:solidFill>
                  <a:srgbClr val="0284C7"/>
                </a:solidFill>
              </a:defRPr>
            </a:pPr>
            <a:r>
              <a:t>✔ ComBat Empirical Bayes Harmonization</a:t>
            </a:r>
          </a:p>
          <a:p>
            <a:pPr>
              <a:defRPr sz="1050">
                <a:solidFill>
                  <a:srgbClr val="334155"/>
                </a:solidFill>
              </a:defRPr>
            </a:pPr>
            <a:r>
              <a:t>   Removes cross-platform batch artifacts across 7 GPL platforms while strictly preserving syndrome biological variance.</a:t>
            </a:r>
          </a:p>
          <a:p>
            <a:pPr>
              <a:defRPr sz="1150" b="1">
                <a:solidFill>
                  <a:srgbClr val="0284C7"/>
                </a:solidFill>
              </a:defRPr>
            </a:pPr>
            <a:r>
              <a:t>✔ L1 Convex Optimization (LASSO)</a:t>
            </a:r>
          </a:p>
          <a:p>
            <a:pPr>
              <a:defRPr sz="1050">
                <a:solidFill>
                  <a:srgbClr val="334155"/>
                </a:solidFill>
              </a:defRPr>
            </a:pPr>
            <a:r>
              <a:t>   Solves the p &gt;&gt; n dimensionality bottleneck, compressing 20,441 genes into 24 sparse driver biomarkers (99.88% sparsity).</a:t>
            </a:r>
          </a:p>
          <a:p>
            <a:pPr>
              <a:defRPr sz="1150" b="1">
                <a:solidFill>
                  <a:srgbClr val="0284C7"/>
                </a:solidFill>
              </a:defRPr>
            </a:pPr>
            <a:r>
              <a:t>✔ Dual-Kernel Support Vector Specialists</a:t>
            </a:r>
          </a:p>
          <a:p>
            <a:pPr>
              <a:defRPr sz="1050">
                <a:solidFill>
                  <a:srgbClr val="334155"/>
                </a:solidFill>
              </a:defRPr>
            </a:pPr>
            <a:r>
              <a:t>   Combines Linear and RBF specialist hyperplanes into a calibrated 5-class meta-classifier achieving 1.000 ROC-AUC.</a:t>
            </a:r>
          </a:p>
          <a:p>
            <a:pPr>
              <a:defRPr sz="1150" b="1">
                <a:solidFill>
                  <a:srgbClr val="0284C7"/>
                </a:solidFill>
              </a:defRPr>
            </a:pPr>
            <a:r>
              <a:t>✔ Game-Theoretic SHAP Explainability</a:t>
            </a:r>
          </a:p>
          <a:p>
            <a:pPr>
              <a:defRPr sz="1050">
                <a:solidFill>
                  <a:srgbClr val="334155"/>
                </a:solidFill>
              </a:defRPr>
            </a:pPr>
            <a:r>
              <a:t>   Decomposes predictions into exact axiomatic Shapley force vectors, providing transparent gene-level explanations for clinical geneticists.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5. METHODOLOGY</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End-to-End System Methodology (7-Stage Pipeline)</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463040"/>
            <a:ext cx="256032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600200"/>
            <a:ext cx="2286000" cy="1828800"/>
          </a:xfrm>
          <a:prstGeom prst="rect">
            <a:avLst/>
          </a:prstGeom>
          <a:noFill/>
        </p:spPr>
        <p:txBody>
          <a:bodyPr wrap="square">
            <a:spAutoFit/>
          </a:bodyPr>
          <a:lstStyle/>
          <a:p>
            <a:pPr>
              <a:defRPr sz="1200" b="1">
                <a:solidFill>
                  <a:srgbClr val="0F172A"/>
                </a:solidFill>
              </a:defRPr>
            </a:pPr>
            <a:r>
              <a:t>Stage 01: Ingestion</a:t>
            </a:r>
          </a:p>
          <a:p>
            <a:pPr>
              <a:defRPr sz="1000">
                <a:solidFill>
                  <a:srgbClr val="334155"/>
                </a:solidFill>
              </a:defRPr>
            </a:pPr>
            <a:r>
              <a:t>NCBI GEO data fetch across 5 cohorts (GSE5390, GSE16677, GSE46687, GSE42331, GSE59216). N=360 samples.</a:t>
            </a:r>
          </a:p>
        </p:txBody>
      </p:sp>
      <p:sp>
        <p:nvSpPr>
          <p:cNvPr id="8" name="Rounded Rectangle 7"/>
          <p:cNvSpPr/>
          <p:nvPr/>
        </p:nvSpPr>
        <p:spPr>
          <a:xfrm>
            <a:off x="3429000" y="1463040"/>
            <a:ext cx="256032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600200"/>
            <a:ext cx="2286000" cy="1828800"/>
          </a:xfrm>
          <a:prstGeom prst="rect">
            <a:avLst/>
          </a:prstGeom>
          <a:noFill/>
        </p:spPr>
        <p:txBody>
          <a:bodyPr wrap="square">
            <a:spAutoFit/>
          </a:bodyPr>
          <a:lstStyle/>
          <a:p>
            <a:pPr>
              <a:defRPr sz="1200" b="1">
                <a:solidFill>
                  <a:srgbClr val="0F172A"/>
                </a:solidFill>
              </a:defRPr>
            </a:pPr>
            <a:r>
              <a:t>Stage 02: GPL Mapping</a:t>
            </a:r>
          </a:p>
          <a:p>
            <a:pPr>
              <a:defRPr sz="1000">
                <a:solidFill>
                  <a:srgbClr val="334155"/>
                </a:solidFill>
              </a:defRPr>
            </a:pPr>
            <a:r>
              <a:t>Mapping 7 microarray platforms (Affy HG-U133, Illumina HT-12 v3/v4) to 20,441 unified HUGO gene symbols.</a:t>
            </a:r>
          </a:p>
        </p:txBody>
      </p:sp>
      <p:sp>
        <p:nvSpPr>
          <p:cNvPr id="10" name="Rounded Rectangle 9"/>
          <p:cNvSpPr/>
          <p:nvPr/>
        </p:nvSpPr>
        <p:spPr>
          <a:xfrm>
            <a:off x="6126480" y="1463040"/>
            <a:ext cx="256032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600200"/>
            <a:ext cx="2286000" cy="1828800"/>
          </a:xfrm>
          <a:prstGeom prst="rect">
            <a:avLst/>
          </a:prstGeom>
          <a:noFill/>
        </p:spPr>
        <p:txBody>
          <a:bodyPr wrap="square">
            <a:spAutoFit/>
          </a:bodyPr>
          <a:lstStyle/>
          <a:p>
            <a:pPr>
              <a:defRPr sz="1200" b="1">
                <a:solidFill>
                  <a:srgbClr val="0F172A"/>
                </a:solidFill>
              </a:defRPr>
            </a:pPr>
            <a:r>
              <a:t>Stage 03: ComBat Harmonia</a:t>
            </a:r>
          </a:p>
          <a:p>
            <a:pPr>
              <a:defRPr sz="1000">
                <a:solidFill>
                  <a:srgbClr val="334155"/>
                </a:solidFill>
              </a:defRPr>
            </a:pPr>
            <a:r>
              <a:t>Parametric empirical Bayes location/scale batch correction to eliminate technical inter-study artifacts.</a:t>
            </a:r>
          </a:p>
        </p:txBody>
      </p:sp>
      <p:sp>
        <p:nvSpPr>
          <p:cNvPr id="12" name="Rounded Rectangle 11"/>
          <p:cNvSpPr/>
          <p:nvPr/>
        </p:nvSpPr>
        <p:spPr>
          <a:xfrm>
            <a:off x="8823960" y="1463040"/>
            <a:ext cx="256032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0" y="1600200"/>
            <a:ext cx="2286000" cy="1828800"/>
          </a:xfrm>
          <a:prstGeom prst="rect">
            <a:avLst/>
          </a:prstGeom>
          <a:noFill/>
        </p:spPr>
        <p:txBody>
          <a:bodyPr wrap="square">
            <a:spAutoFit/>
          </a:bodyPr>
          <a:lstStyle/>
          <a:p>
            <a:pPr>
              <a:defRPr sz="1200" b="1">
                <a:solidFill>
                  <a:srgbClr val="0F172A"/>
                </a:solidFill>
              </a:defRPr>
            </a:pPr>
            <a:r>
              <a:t>Stage 04: L1 Sparsity</a:t>
            </a:r>
          </a:p>
          <a:p>
            <a:pPr>
              <a:defRPr sz="1000">
                <a:solidFill>
                  <a:srgbClr val="334155"/>
                </a:solidFill>
              </a:defRPr>
            </a:pPr>
            <a:r>
              <a:t>Vectorized Welch's t-test + L1 LASSO convex optimization (lambda=0.08) isolating 24 chromosomal biomarkers.</a:t>
            </a:r>
          </a:p>
        </p:txBody>
      </p:sp>
      <p:sp>
        <p:nvSpPr>
          <p:cNvPr id="14" name="Rounded Rectangle 13"/>
          <p:cNvSpPr/>
          <p:nvPr/>
        </p:nvSpPr>
        <p:spPr>
          <a:xfrm>
            <a:off x="1371600" y="3931920"/>
            <a:ext cx="292608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8760" y="4069080"/>
            <a:ext cx="2651760" cy="1828800"/>
          </a:xfrm>
          <a:prstGeom prst="rect">
            <a:avLst/>
          </a:prstGeom>
          <a:noFill/>
        </p:spPr>
        <p:txBody>
          <a:bodyPr wrap="square">
            <a:spAutoFit/>
          </a:bodyPr>
          <a:lstStyle/>
          <a:p>
            <a:pPr>
              <a:defRPr sz="1200" b="1">
                <a:solidFill>
                  <a:srgbClr val="A21357"/>
                </a:solidFill>
              </a:defRPr>
            </a:pPr>
            <a:r>
              <a:t>Stage 05: Dual-Kernel SVM</a:t>
            </a:r>
          </a:p>
          <a:p>
            <a:pPr>
              <a:defRPr sz="1000">
                <a:solidFill>
                  <a:srgbClr val="334155"/>
                </a:solidFill>
              </a:defRPr>
            </a:pPr>
            <a:r>
              <a:t>One-vs-Rest Linear + RBF SVM specialist ensemble mapped to Platt-calibrated posterior probabilities.</a:t>
            </a:r>
          </a:p>
        </p:txBody>
      </p:sp>
      <p:sp>
        <p:nvSpPr>
          <p:cNvPr id="16" name="Rounded Rectangle 15"/>
          <p:cNvSpPr/>
          <p:nvPr/>
        </p:nvSpPr>
        <p:spPr>
          <a:xfrm>
            <a:off x="4480560" y="3931920"/>
            <a:ext cx="292608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7720" y="4069080"/>
            <a:ext cx="2651760" cy="1828800"/>
          </a:xfrm>
          <a:prstGeom prst="rect">
            <a:avLst/>
          </a:prstGeom>
          <a:noFill/>
        </p:spPr>
        <p:txBody>
          <a:bodyPr wrap="square">
            <a:spAutoFit/>
          </a:bodyPr>
          <a:lstStyle/>
          <a:p>
            <a:pPr>
              <a:defRPr sz="1200" b="1">
                <a:solidFill>
                  <a:srgbClr val="A21357"/>
                </a:solidFill>
              </a:defRPr>
            </a:pPr>
            <a:r>
              <a:t>Stage 06: SHAP Explain</a:t>
            </a:r>
          </a:p>
          <a:p>
            <a:pPr>
              <a:defRPr sz="1000">
                <a:solidFill>
                  <a:srgbClr val="334155"/>
                </a:solidFill>
              </a:defRPr>
            </a:pPr>
            <a:r>
              <a:t>Game-theoretic Shapley attributions (phi_i) generating beeswarm rankings and patient force waterfalls.</a:t>
            </a:r>
          </a:p>
        </p:txBody>
      </p:sp>
      <p:sp>
        <p:nvSpPr>
          <p:cNvPr id="18" name="Rounded Rectangle 17"/>
          <p:cNvSpPr/>
          <p:nvPr/>
        </p:nvSpPr>
        <p:spPr>
          <a:xfrm>
            <a:off x="7589520" y="3931920"/>
            <a:ext cx="292608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26680" y="4069080"/>
            <a:ext cx="2651760" cy="1828800"/>
          </a:xfrm>
          <a:prstGeom prst="rect">
            <a:avLst/>
          </a:prstGeom>
          <a:noFill/>
        </p:spPr>
        <p:txBody>
          <a:bodyPr wrap="square">
            <a:spAutoFit/>
          </a:bodyPr>
          <a:lstStyle/>
          <a:p>
            <a:pPr>
              <a:defRPr sz="1200" b="1">
                <a:solidFill>
                  <a:srgbClr val="0F172A"/>
                </a:solidFill>
              </a:defRPr>
            </a:pPr>
            <a:r>
              <a:t>Stage 07: Benchmarks</a:t>
            </a:r>
          </a:p>
          <a:p>
            <a:pPr>
              <a:defRPr sz="1000">
                <a:solidFill>
                  <a:srgbClr val="334155"/>
                </a:solidFill>
              </a:defRPr>
            </a:pPr>
            <a:r>
              <a:t>Cross-validation evaluation (ROC-AUC 1.000, F1 0.994) and biological alignment with ClinVar/OMIM.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6. PREPROCESSING</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Data Preprocessing &amp; ComBat Batch Harmonization</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3035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937760" cy="4572000"/>
          </a:xfrm>
          <a:prstGeom prst="rect">
            <a:avLst/>
          </a:prstGeom>
          <a:noFill/>
        </p:spPr>
        <p:txBody>
          <a:bodyPr wrap="square">
            <a:spAutoFit/>
          </a:bodyPr>
          <a:lstStyle/>
          <a:p>
            <a:pPr>
              <a:defRPr sz="1600" b="1">
                <a:solidFill>
                  <a:srgbClr val="0F172A"/>
                </a:solidFill>
              </a:defRPr>
            </a:pPr>
            <a:r>
              <a:rPr dirty="0"/>
              <a:t>Two-Tier Preprocessing Pipeline</a:t>
            </a:r>
          </a:p>
          <a:p>
            <a:pPr>
              <a:defRPr sz="1300" b="1">
                <a:solidFill>
                  <a:srgbClr val="A21357"/>
                </a:solidFill>
              </a:defRPr>
            </a:pPr>
            <a:r>
              <a:rPr dirty="0"/>
              <a:t>1. Quantile Normalization</a:t>
            </a:r>
          </a:p>
          <a:p>
            <a:pPr>
              <a:defRPr sz="1100">
                <a:solidFill>
                  <a:srgbClr val="334155"/>
                </a:solidFill>
              </a:defRPr>
            </a:pPr>
            <a:r>
              <a:rPr dirty="0"/>
              <a:t>• Aligns global empirical distribution across arrays while strictly preserving relative rank order.</a:t>
            </a:r>
            <a:br>
              <a:rPr dirty="0"/>
            </a:br>
            <a:r>
              <a:rPr dirty="0"/>
              <a:t>• Sorts intensities per array, computes rank-wise means across samples, and substitutes values.</a:t>
            </a:r>
          </a:p>
          <a:p>
            <a:pPr>
              <a:defRPr sz="1300" b="1">
                <a:solidFill>
                  <a:srgbClr val="A21357"/>
                </a:solidFill>
              </a:defRPr>
            </a:pPr>
            <a:r>
              <a:rPr dirty="0"/>
              <a:t>2. </a:t>
            </a:r>
            <a:r>
              <a:rPr dirty="0" err="1"/>
              <a:t>ComBat</a:t>
            </a:r>
            <a:r>
              <a:rPr dirty="0"/>
              <a:t> Batch Effect Adjustment</a:t>
            </a:r>
          </a:p>
          <a:p>
            <a:pPr>
              <a:defRPr sz="1100">
                <a:solidFill>
                  <a:srgbClr val="334155"/>
                </a:solidFill>
              </a:defRPr>
            </a:pPr>
            <a:r>
              <a:rPr dirty="0"/>
              <a:t>• Removes systematic platform &amp; laboratory variance (Affymetrix vs. Illumina).</a:t>
            </a:r>
            <a:br>
              <a:rPr dirty="0"/>
            </a:br>
            <a:r>
              <a:rPr dirty="0"/>
              <a:t>• Empirical Bayes shrinkage pools information across genes, preventing over-correction in small sample sizes.</a:t>
            </a:r>
            <a:br>
              <a:rPr dirty="0"/>
            </a:br>
            <a:r>
              <a:rPr dirty="0"/>
              <a:t>• Retains biological covariates (syndrome classes) in design matrix X to preserve disease signal.</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atch_pca_down_syndrome.png"/>
          <p:cNvPicPr>
            <a:picLocks noChangeAspect="1"/>
          </p:cNvPicPr>
          <p:nvPr/>
        </p:nvPicPr>
        <p:blipFill>
          <a:blip r:embed="rId3"/>
          <a:stretch>
            <a:fillRect/>
          </a:stretch>
        </p:blipFill>
        <p:spPr>
          <a:xfrm>
            <a:off x="6400800" y="1554480"/>
            <a:ext cx="4846320" cy="1730829"/>
          </a:xfrm>
          <a:prstGeom prst="rect">
            <a:avLst/>
          </a:prstGeom>
        </p:spPr>
      </p:pic>
      <p:sp>
        <p:nvSpPr>
          <p:cNvPr id="10" name="TextBox 9"/>
          <p:cNvSpPr txBox="1"/>
          <p:nvPr/>
        </p:nvSpPr>
        <p:spPr>
          <a:xfrm>
            <a:off x="6400800" y="5760720"/>
            <a:ext cx="4846320" cy="457200"/>
          </a:xfrm>
          <a:prstGeom prst="rect">
            <a:avLst/>
          </a:prstGeom>
          <a:noFill/>
        </p:spPr>
        <p:txBody>
          <a:bodyPr wrap="none">
            <a:spAutoFit/>
          </a:bodyPr>
          <a:lstStyle/>
          <a:p>
            <a:pPr>
              <a:defRPr sz="1000">
                <a:solidFill>
                  <a:srgbClr val="64748B"/>
                </a:solidFill>
              </a:defRPr>
            </a:pPr>
            <a:r>
              <a:t>Figure: PCA before and after ComBat showing elimination of 84.6% batch variance.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7. MATHEMATICAL FORMULATION</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Mathematical Formulation: ComBat Empirical Bayes</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10728655"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7280" y="1645920"/>
            <a:ext cx="9997135" cy="1463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737360"/>
            <a:ext cx="9631375" cy="1280160"/>
          </a:xfrm>
          <a:prstGeom prst="rect">
            <a:avLst/>
          </a:prstGeom>
          <a:noFill/>
        </p:spPr>
        <p:txBody>
          <a:bodyPr wrap="square">
            <a:spAutoFit/>
          </a:bodyPr>
          <a:lstStyle/>
          <a:p>
            <a:pPr algn="ctr">
              <a:defRPr sz="2000" b="1">
                <a:solidFill>
                  <a:srgbClr val="0F172A"/>
                </a:solidFill>
                <a:latin typeface="Consolas"/>
              </a:defRPr>
            </a:pPr>
            <a:r>
              <a:t>Y_ijg = α_g + X_j β_g + γ_ig + δ_ig ε_ijg</a:t>
            </a:r>
          </a:p>
          <a:p>
            <a:pPr algn="ctr">
              <a:defRPr sz="1500" b="1">
                <a:solidFill>
                  <a:srgbClr val="A21357"/>
                </a:solidFill>
                <a:latin typeface="Consolas"/>
              </a:defRPr>
            </a:pPr>
            <a:r>
              <a:t>Adjusted Expression:  Y*_ijg = (Y_ijg - α̂_g - X_j β̂_g - γ*_ig) / δ*_ig + α̂_g + X_j β̂_g</a:t>
            </a:r>
          </a:p>
        </p:txBody>
      </p:sp>
      <p:sp>
        <p:nvSpPr>
          <p:cNvPr id="9" name="TextBox 8"/>
          <p:cNvSpPr txBox="1"/>
          <p:nvPr/>
        </p:nvSpPr>
        <p:spPr>
          <a:xfrm>
            <a:off x="1097280" y="3291840"/>
            <a:ext cx="9997135" cy="2743200"/>
          </a:xfrm>
          <a:prstGeom prst="rect">
            <a:avLst/>
          </a:prstGeom>
          <a:noFill/>
        </p:spPr>
        <p:txBody>
          <a:bodyPr wrap="square">
            <a:spAutoFit/>
          </a:bodyPr>
          <a:lstStyle/>
          <a:p>
            <a:endParaRPr/>
          </a:p>
          <a:p>
            <a:pPr>
              <a:defRPr sz="1200" b="1">
                <a:solidFill>
                  <a:srgbClr val="0F172A"/>
                </a:solidFill>
              </a:defRPr>
            </a:pPr>
            <a:r>
              <a:t>• Variable Definitions: </a:t>
            </a:r>
            <a:r>
              <a:rPr b="0">
                <a:solidFill>
                  <a:srgbClr val="334155"/>
                </a:solidFill>
              </a:rPr>
              <a:t>Y_ijg: log2 expression for gene g, patient j in batch i. α_g: baseline average expression. X_j β_g: biological covariate matrix preserving true syndrome classification.</a:t>
            </a:r>
          </a:p>
          <a:p>
            <a:pPr>
              <a:defRPr sz="1200" b="1">
                <a:solidFill>
                  <a:srgbClr val="0F172A"/>
                </a:solidFill>
              </a:defRPr>
            </a:pPr>
            <a:r>
              <a:t>• Additive &amp; Multiplicative Batch Parameters: </a:t>
            </a:r>
            <a:r>
              <a:rPr b="0">
                <a:solidFill>
                  <a:srgbClr val="334155"/>
                </a:solidFill>
              </a:rPr>
              <a:t>γ_ig represents the additive platform shift (mean shift), and δ_ig represents multiplicative scaling (variance stretch) caused by scanning protocols and probe binding chemistry.</a:t>
            </a:r>
          </a:p>
          <a:p>
            <a:pPr>
              <a:defRPr sz="1200" b="1">
                <a:solidFill>
                  <a:srgbClr val="0F172A"/>
                </a:solidFill>
              </a:defRPr>
            </a:pPr>
            <a:r>
              <a:t>• Empirical Bayes Shrinkage Estimators: </a:t>
            </a:r>
            <a:r>
              <a:rPr b="0">
                <a:solidFill>
                  <a:srgbClr val="334155"/>
                </a:solidFill>
              </a:rPr>
              <a:t>Parametric priors assume γ_ig ~ Normal(m_i, τ_i²) and δ_ig² ~ Inverse-Gamma(λ_i, θ_i). Posterior parameters γ*_ig and δ*_ig shrink gene-specific estimates toward global batch means, providing robust harmonization even for small sample sizes.</a:t>
            </a:r>
          </a:p>
          <a:p>
            <a:pPr>
              <a:defRPr sz="1200" b="1">
                <a:solidFill>
                  <a:srgbClr val="0F172A"/>
                </a:solidFill>
              </a:defRPr>
            </a:pPr>
            <a:r>
              <a:t>• Mathematical Proof of Variance Restoration: </a:t>
            </a:r>
            <a:r>
              <a:rPr b="0">
                <a:solidFill>
                  <a:srgbClr val="334155"/>
                </a:solidFill>
              </a:rPr>
              <a:t>Post-harmonization ANOVA confirms batch F-statistic drops from p &lt; 1e-12 to p = 0.42 (non-significant), confirming that residual variance is purely biological.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8. FEATURE BOTTLENECK</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The High-Dimensional Genomic Dilemma (p &gt;&gt; n)</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754880" cy="4572000"/>
          </a:xfrm>
          <a:prstGeom prst="rect">
            <a:avLst/>
          </a:prstGeom>
          <a:noFill/>
        </p:spPr>
        <p:txBody>
          <a:bodyPr wrap="square">
            <a:spAutoFit/>
          </a:bodyPr>
          <a:lstStyle/>
          <a:p>
            <a:pPr>
              <a:defRPr sz="1600" b="1">
                <a:solidFill>
                  <a:srgbClr val="0F172A"/>
                </a:solidFill>
              </a:defRPr>
            </a:pPr>
            <a:r>
              <a:t>The Curse of Dimensionality in Microarrays</a:t>
            </a:r>
          </a:p>
          <a:p>
            <a:pPr>
              <a:defRPr sz="1300" b="1">
                <a:solidFill>
                  <a:srgbClr val="A21357"/>
                </a:solidFill>
              </a:defRPr>
            </a:pPr>
            <a:r>
              <a:t>Features (p = 20,441 genes)  &gt;&gt;  Samples (n = 360 patients)</a:t>
            </a:r>
          </a:p>
          <a:p>
            <a:pPr>
              <a:defRPr sz="1150">
                <a:solidFill>
                  <a:srgbClr val="334155"/>
                </a:solidFill>
              </a:defRPr>
            </a:pPr>
            <a:r>
              <a:t>• Infinite Hyperplane Solutions: In p &gt;&gt; n regimes, the sample space occupies a tiny subspace of feature space. Countless arbitrary hyperplanes can achieve 100% empirical training accuracy while generalizing horribly.</a:t>
            </a:r>
            <a:br/>
            <a:r>
              <a:t>• Multicollinearity &amp; Noise: Thousands of genes have co-regulated or stochastic expression, causing high correlation matrices and inflating coefficient variance.</a:t>
            </a:r>
            <a:br/>
            <a:r>
              <a:t>• Overfitting: Standard models memorize technical artifacts rather than constitutional chromosomal ploidy.</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46320" cy="4572000"/>
          </a:xfrm>
          <a:prstGeom prst="rect">
            <a:avLst/>
          </a:prstGeom>
          <a:noFill/>
        </p:spPr>
        <p:txBody>
          <a:bodyPr wrap="square">
            <a:spAutoFit/>
          </a:bodyPr>
          <a:lstStyle/>
          <a:p>
            <a:pPr>
              <a:defRPr sz="1600" b="1">
                <a:solidFill>
                  <a:srgbClr val="0F172A"/>
                </a:solidFill>
              </a:defRPr>
            </a:pPr>
            <a:r>
              <a:t>Why Ordinary Logistic Regression Fails</a:t>
            </a:r>
          </a:p>
          <a:p>
            <a:pPr>
              <a:defRPr sz="1100" b="1">
                <a:solidFill>
                  <a:srgbClr val="0284C7"/>
                </a:solidFill>
              </a:defRPr>
            </a:pPr>
            <a:r>
              <a:t>• Singular Covariance Matrix: </a:t>
            </a:r>
            <a:r>
              <a:rPr b="0">
                <a:solidFill>
                  <a:srgbClr val="334155"/>
                </a:solidFill>
              </a:rPr>
              <a:t>The empirical sample covariance matrix X^T X is rank-deficient (rank ≤ 360). Inverting X^T X to compute maximum likelihood estimates is mathematically impossible.</a:t>
            </a:r>
          </a:p>
          <a:p>
            <a:pPr>
              <a:defRPr sz="1100" b="1">
                <a:solidFill>
                  <a:srgbClr val="0284C7"/>
                </a:solidFill>
              </a:defRPr>
            </a:pPr>
            <a:r>
              <a:t>• Diverging Coefficients: </a:t>
            </a:r>
            <a:r>
              <a:rPr b="0">
                <a:solidFill>
                  <a:srgbClr val="334155"/>
                </a:solidFill>
              </a:rPr>
              <a:t>Without regularization, log-odds coefficients β_j diverge to infinity (complete separation problem), rendering the model unstable and uninterpretable.</a:t>
            </a:r>
          </a:p>
          <a:p>
            <a:pPr>
              <a:defRPr sz="1100" b="1">
                <a:solidFill>
                  <a:srgbClr val="0284C7"/>
                </a:solidFill>
              </a:defRPr>
            </a:pPr>
            <a:r>
              <a:t>• Lack of Sparsity: </a:t>
            </a:r>
            <a:r>
              <a:rPr b="0">
                <a:solidFill>
                  <a:srgbClr val="334155"/>
                </a:solidFill>
              </a:rPr>
              <a:t>Standard L2 ridge penalty shrinks weights toward zero but never sets them exactly to zero. Clinicians cannot interpret a model using 20,441 non-zero weights.</a:t>
            </a:r>
          </a:p>
          <a:p>
            <a:pPr>
              <a:defRPr sz="1100" b="1">
                <a:solidFill>
                  <a:srgbClr val="0284C7"/>
                </a:solidFill>
              </a:defRPr>
            </a:pPr>
            <a:r>
              <a:t>• The L1 LASSO Solution: </a:t>
            </a:r>
            <a:r>
              <a:rPr b="0">
                <a:solidFill>
                  <a:srgbClr val="334155"/>
                </a:solidFill>
              </a:rPr>
              <a:t>L1 regularization introduces a non-differentiable absolute value penalty at zero, driving non-informative coefficients to exactly zero.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9. MATHEMATICAL FORMULATION</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Mathematical Formulation: L1-Regularized Feature Selection</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8521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554480"/>
            <a:ext cx="5486400" cy="2011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45920"/>
            <a:ext cx="5303520" cy="1828800"/>
          </a:xfrm>
          <a:prstGeom prst="rect">
            <a:avLst/>
          </a:prstGeom>
          <a:noFill/>
        </p:spPr>
        <p:txBody>
          <a:bodyPr wrap="square">
            <a:spAutoFit/>
          </a:bodyPr>
          <a:lstStyle/>
          <a:p>
            <a:pPr>
              <a:defRPr sz="1100" b="1">
                <a:solidFill>
                  <a:srgbClr val="64748B"/>
                </a:solidFill>
              </a:defRPr>
            </a:pPr>
            <a:r>
              <a:t>Logistic Model &amp; Hypothesis:</a:t>
            </a:r>
          </a:p>
          <a:p>
            <a:pPr>
              <a:defRPr sz="1300" b="1">
                <a:solidFill>
                  <a:srgbClr val="0F172A"/>
                </a:solidFill>
                <a:latin typeface="Consolas"/>
              </a:defRPr>
            </a:pPr>
            <a:r>
              <a:t>p_i = P(y_i = 1 | x_i) = 1 / (1 + e^-(β_0 + x_i^T β))</a:t>
            </a:r>
          </a:p>
          <a:p>
            <a:pPr>
              <a:defRPr sz="1100" b="1">
                <a:solidFill>
                  <a:srgbClr val="64748B"/>
                </a:solidFill>
              </a:defRPr>
            </a:pPr>
            <a:r>
              <a:t>Unified Convex Objective (Log-Loss + L1 Penalty):</a:t>
            </a:r>
          </a:p>
          <a:p>
            <a:pPr>
              <a:defRPr sz="1300" b="1">
                <a:solidFill>
                  <a:srgbClr val="A21357"/>
                </a:solidFill>
                <a:latin typeface="Consolas"/>
              </a:defRPr>
            </a:pPr>
            <a:r>
              <a:t>min_{β_0, β} { - ∑ [y_i ln(p_i) + (1-y_i) ln(1-p_i)] + λ ∑ |β_j| }</a:t>
            </a:r>
          </a:p>
        </p:txBody>
      </p:sp>
      <p:sp>
        <p:nvSpPr>
          <p:cNvPr id="9" name="TextBox 8"/>
          <p:cNvSpPr txBox="1"/>
          <p:nvPr/>
        </p:nvSpPr>
        <p:spPr>
          <a:xfrm>
            <a:off x="914400" y="3657600"/>
            <a:ext cx="5486400" cy="2560320"/>
          </a:xfrm>
          <a:prstGeom prst="rect">
            <a:avLst/>
          </a:prstGeom>
          <a:noFill/>
        </p:spPr>
        <p:txBody>
          <a:bodyPr wrap="square">
            <a:spAutoFit/>
          </a:bodyPr>
          <a:lstStyle/>
          <a:p>
            <a:endParaRPr/>
          </a:p>
          <a:p>
            <a:pPr>
              <a:defRPr sz="1050" b="1">
                <a:solidFill>
                  <a:srgbClr val="0F172A"/>
                </a:solidFill>
              </a:defRPr>
            </a:pPr>
            <a:r>
              <a:t>• Mathematical Mechanism of Sparsity: </a:t>
            </a:r>
            <a:r>
              <a:rPr b="0">
                <a:solidFill>
                  <a:srgbClr val="334155"/>
                </a:solidFill>
              </a:rPr>
              <a:t>The geometry of the L1 norm ||β||_1 = ∑ |β_j| forms a rhomboid polyhedron with sharp corners on the coordinate axes. The elliptical log-likelihood contours intersect at these vertices, forcing non-essential weights to exactly β_j = 0.</a:t>
            </a:r>
          </a:p>
          <a:p>
            <a:pPr>
              <a:defRPr sz="1050" b="1">
                <a:solidFill>
                  <a:srgbClr val="0F172A"/>
                </a:solidFill>
              </a:defRPr>
            </a:pPr>
            <a:r>
              <a:t>• Hyperparameter Optimization (λ = 0.08): </a:t>
            </a:r>
            <a:r>
              <a:rPr b="0">
                <a:solidFill>
                  <a:srgbClr val="334155"/>
                </a:solidFill>
              </a:rPr>
              <a:t>Tuned via 5-fold stratified cross-validation. At optimal λ = 0.08, 99.88% of coefficients are eliminated, condensing 20,441 genes down to 24 pristine biomarkers.</a:t>
            </a:r>
          </a:p>
          <a:p>
            <a:pPr>
              <a:defRPr sz="1050" b="1">
                <a:solidFill>
                  <a:srgbClr val="0F172A"/>
                </a:solidFill>
              </a:defRPr>
            </a:pPr>
            <a:r>
              <a:t>• Biological Validation: </a:t>
            </a:r>
            <a:r>
              <a:rPr b="0">
                <a:solidFill>
                  <a:srgbClr val="334155"/>
                </a:solidFill>
              </a:rPr>
              <a:t>Retained non-zero coefficients strictly align with constitutional loci: Chr 21 (APP, DYRK1A), Chr 22 (TBX1, COMT), and Chr X (XIST, SHOX).</a:t>
            </a:r>
          </a:p>
        </p:txBody>
      </p:sp>
      <p:sp>
        <p:nvSpPr>
          <p:cNvPr id="10" name="Rounded Rectangle 9"/>
          <p:cNvSpPr/>
          <p:nvPr/>
        </p:nvSpPr>
        <p:spPr>
          <a:xfrm>
            <a:off x="6766560" y="1371600"/>
            <a:ext cx="46634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1_biomarkers_down_syndrome.png"/>
          <p:cNvPicPr>
            <a:picLocks noChangeAspect="1"/>
          </p:cNvPicPr>
          <p:nvPr/>
        </p:nvPicPr>
        <p:blipFill>
          <a:blip r:embed="rId3"/>
          <a:stretch>
            <a:fillRect/>
          </a:stretch>
        </p:blipFill>
        <p:spPr>
          <a:xfrm>
            <a:off x="6949440" y="1645920"/>
            <a:ext cx="4297680" cy="2417445"/>
          </a:xfrm>
          <a:prstGeom prst="rect">
            <a:avLst/>
          </a:prstGeom>
        </p:spPr>
      </p:pic>
      <p:sp>
        <p:nvSpPr>
          <p:cNvPr id="12" name="TextBox 11"/>
          <p:cNvSpPr txBox="1"/>
          <p:nvPr/>
        </p:nvSpPr>
        <p:spPr>
          <a:xfrm>
            <a:off x="6949440" y="5760720"/>
            <a:ext cx="4297680" cy="457200"/>
          </a:xfrm>
          <a:prstGeom prst="rect">
            <a:avLst/>
          </a:prstGeom>
          <a:noFill/>
        </p:spPr>
        <p:txBody>
          <a:bodyPr wrap="none">
            <a:spAutoFit/>
          </a:bodyPr>
          <a:lstStyle/>
          <a:p>
            <a:pPr>
              <a:defRPr sz="1000">
                <a:solidFill>
                  <a:srgbClr val="64748B"/>
                </a:solidFill>
              </a:defRPr>
            </a:pPr>
            <a:r>
              <a:t>Figure: L1 coefficient path showing sparse feature isolation on Chr 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10. MATHEMATICAL FORMULATION</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Mathematical Formulation: Support Vector Machine (SVM)</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10728655"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7280" y="1645920"/>
            <a:ext cx="9997135" cy="18288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737360"/>
            <a:ext cx="9631375" cy="1645920"/>
          </a:xfrm>
          <a:prstGeom prst="rect">
            <a:avLst/>
          </a:prstGeom>
          <a:noFill/>
        </p:spPr>
        <p:txBody>
          <a:bodyPr wrap="square">
            <a:spAutoFit/>
          </a:bodyPr>
          <a:lstStyle/>
          <a:p>
            <a:pPr algn="ctr">
              <a:defRPr sz="1600" b="1">
                <a:solidFill>
                  <a:srgbClr val="0F172A"/>
                </a:solidFill>
                <a:latin typeface="Consolas"/>
              </a:defRPr>
            </a:pPr>
            <a:r>
              <a:t>Decision Hyperplane:  w^T x + b = 0,    Geometric Margin = 2 / ||w||</a:t>
            </a:r>
          </a:p>
          <a:p>
            <a:pPr algn="ctr">
              <a:defRPr sz="1500" b="1">
                <a:solidFill>
                  <a:srgbClr val="A21357"/>
                </a:solidFill>
                <a:latin typeface="Consolas"/>
              </a:defRPr>
            </a:pPr>
            <a:r>
              <a:t>min_{w, b, ξ} { 1/2 ||w||² + C ∑ ξ_i }   subject to   y_i(w^T x_i + b) ≥ 1 - ξ_i,   ξ_i ≥ 0</a:t>
            </a:r>
          </a:p>
          <a:p>
            <a:pPr algn="ctr">
              <a:defRPr sz="1400" b="1">
                <a:solidFill>
                  <a:srgbClr val="0284C7"/>
                </a:solidFill>
                <a:latin typeface="Consolas"/>
              </a:defRPr>
            </a:pPr>
            <a:r>
              <a:t>Decision Rule:  f(x) = sign(w^T x + b) = sign( ∑ α_i y_i (x_i^T x) + b )</a:t>
            </a:r>
          </a:p>
        </p:txBody>
      </p:sp>
      <p:sp>
        <p:nvSpPr>
          <p:cNvPr id="9" name="TextBox 8"/>
          <p:cNvSpPr txBox="1"/>
          <p:nvPr/>
        </p:nvSpPr>
        <p:spPr>
          <a:xfrm>
            <a:off x="1097280" y="3657600"/>
            <a:ext cx="9997135" cy="2468880"/>
          </a:xfrm>
          <a:prstGeom prst="rect">
            <a:avLst/>
          </a:prstGeom>
          <a:noFill/>
        </p:spPr>
        <p:txBody>
          <a:bodyPr wrap="square">
            <a:spAutoFit/>
          </a:bodyPr>
          <a:lstStyle/>
          <a:p>
            <a:endParaRPr/>
          </a:p>
          <a:p>
            <a:pPr>
              <a:defRPr sz="1100" b="1">
                <a:solidFill>
                  <a:srgbClr val="0F172A"/>
                </a:solidFill>
              </a:defRPr>
            </a:pPr>
            <a:r>
              <a:t>• Maximum Margin Principle: </a:t>
            </a:r>
            <a:r>
              <a:rPr b="0">
                <a:solidFill>
                  <a:srgbClr val="334155"/>
                </a:solidFill>
              </a:rPr>
              <a:t>The objective function min 1/2 ||w||² is mathematically equivalent to maximizing the geometric separation margin 2 / ||w|| between syndrome classes, maximizing out-of-sample generalization.</a:t>
            </a:r>
          </a:p>
          <a:p>
            <a:pPr>
              <a:defRPr sz="1100" b="1">
                <a:solidFill>
                  <a:srgbClr val="0F172A"/>
                </a:solidFill>
              </a:defRPr>
            </a:pPr>
            <a:r>
              <a:t>• Soft-Margin Slack Variables (ξ_i): </a:t>
            </a:r>
            <a:r>
              <a:rPr b="0">
                <a:solidFill>
                  <a:srgbClr val="334155"/>
                </a:solidFill>
              </a:rPr>
              <a:t>Biological expression data inherently contains biological noise. Slack variables ξ_i ≥ 0 permit controlled margin violations for outliers without destabilizing the global decision plane.</a:t>
            </a:r>
          </a:p>
          <a:p>
            <a:pPr>
              <a:defRPr sz="1100" b="1">
                <a:solidFill>
                  <a:srgbClr val="0F172A"/>
                </a:solidFill>
              </a:defRPr>
            </a:pPr>
            <a:r>
              <a:t>• Regularization Parameter C: </a:t>
            </a:r>
            <a:r>
              <a:rPr b="0">
                <a:solidFill>
                  <a:srgbClr val="334155"/>
                </a:solidFill>
              </a:rPr>
              <a:t>Controls the bias-variance trade-off. Large C enforces strict margin boundaries (higher variance); small C tolerates margin penetration for a wider, more robust hyperplane (lower variance). Calibrated at C = 1.0 via cross-validation.</a:t>
            </a:r>
          </a:p>
          <a:p>
            <a:pPr>
              <a:defRPr sz="1100" b="1">
                <a:solidFill>
                  <a:srgbClr val="0F172A"/>
                </a:solidFill>
              </a:defRPr>
            </a:pPr>
            <a:r>
              <a:t>• Sparsity in Support Vectors: </a:t>
            </a:r>
            <a:r>
              <a:rPr b="0">
                <a:solidFill>
                  <a:srgbClr val="334155"/>
                </a:solidFill>
              </a:rPr>
              <a:t>Only data points lying exactly on the margin (or violating it) have non-zero Lagrange multipliers (α_i &gt; 0). Across our cohort, only 28 of 360 samples (7.8%) serve as support vectors, ensuring rapid clinical inference.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11. MATHEMATICAL FORMULATION</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Mathematical Formulation: Dual Lagrangian &amp; Kernel Trick</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10728655"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7280" y="1645920"/>
            <a:ext cx="9997135" cy="18288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737360"/>
            <a:ext cx="9631375" cy="1645920"/>
          </a:xfrm>
          <a:prstGeom prst="rect">
            <a:avLst/>
          </a:prstGeom>
          <a:noFill/>
        </p:spPr>
        <p:txBody>
          <a:bodyPr wrap="square">
            <a:spAutoFit/>
          </a:bodyPr>
          <a:lstStyle/>
          <a:p>
            <a:pPr algn="ctr">
              <a:defRPr sz="1450" b="1">
                <a:solidFill>
                  <a:srgbClr val="0F172A"/>
                </a:solidFill>
                <a:latin typeface="Consolas"/>
              </a:defRPr>
            </a:pPr>
            <a:r>
              <a:t>Dual Lagrangian:  max_α { ∑ α_i - 1/2 ∑∑ α_i α_j y_i y_j K(x_i, x_j) }   s.t. 0 ≤ α_i ≤ C,  ∑ α_i y_i = 0</a:t>
            </a:r>
          </a:p>
          <a:p>
            <a:pPr algn="ctr">
              <a:defRPr sz="1500" b="1">
                <a:solidFill>
                  <a:srgbClr val="A21357"/>
                </a:solidFill>
                <a:latin typeface="Consolas"/>
              </a:defRPr>
            </a:pPr>
            <a:r>
              <a:t>Radial Basis Function (RBF) Kernel:  K_RBF(x_i, x_j) = exp( - γ ||x_i - x_j||² ),   γ = 1 / (2σ²)</a:t>
            </a:r>
          </a:p>
          <a:p>
            <a:pPr algn="ctr">
              <a:defRPr sz="1400" b="1">
                <a:solidFill>
                  <a:srgbClr val="0284C7"/>
                </a:solidFill>
                <a:latin typeface="Consolas"/>
              </a:defRPr>
            </a:pPr>
            <a:r>
              <a:t>Mercer's Theorem:  K(x_i, x_j) = ⟨Φ(x_i), Φ(x_j)⟩_H   (Implicit Infinite-Dimensional Mapping)</a:t>
            </a:r>
          </a:p>
        </p:txBody>
      </p:sp>
      <p:sp>
        <p:nvSpPr>
          <p:cNvPr id="9" name="TextBox 8"/>
          <p:cNvSpPr txBox="1"/>
          <p:nvPr/>
        </p:nvSpPr>
        <p:spPr>
          <a:xfrm>
            <a:off x="1097280" y="3657600"/>
            <a:ext cx="9997135" cy="2468880"/>
          </a:xfrm>
          <a:prstGeom prst="rect">
            <a:avLst/>
          </a:prstGeom>
          <a:noFill/>
        </p:spPr>
        <p:txBody>
          <a:bodyPr wrap="square">
            <a:spAutoFit/>
          </a:bodyPr>
          <a:lstStyle/>
          <a:p>
            <a:endParaRPr/>
          </a:p>
          <a:p>
            <a:pPr>
              <a:defRPr sz="1100" b="1">
                <a:solidFill>
                  <a:srgbClr val="0F172A"/>
                </a:solidFill>
              </a:defRPr>
            </a:pPr>
            <a:r>
              <a:t>• Why Non-Linearity Matters in Biology: </a:t>
            </a:r>
            <a:r>
              <a:rPr b="0">
                <a:solidFill>
                  <a:srgbClr val="334155"/>
                </a:solidFill>
              </a:rPr>
              <a:t>Multi-omics interactions exhibit complex non-linear epistatic masking and thresholding. Linear boundaries alone cannot capture cooperative transcription factor saturation.</a:t>
            </a:r>
          </a:p>
          <a:p>
            <a:pPr>
              <a:defRPr sz="1100" b="1">
                <a:solidFill>
                  <a:srgbClr val="0F172A"/>
                </a:solidFill>
              </a:defRPr>
            </a:pPr>
            <a:r>
              <a:t>• The Kernel Trick: </a:t>
            </a:r>
            <a:r>
              <a:rPr b="0">
                <a:solidFill>
                  <a:srgbClr val="334155"/>
                </a:solidFill>
              </a:rPr>
              <a:t>By replacing the inner product ⟨x_i, x_j⟩ with kernel function K(x_i, x_j), SVM implicitly maps low-dimensional gene expression into an infinite-dimensional Reproducing Kernel Hilbert Space (RKHS) without explicitly computing Φ(x).</a:t>
            </a:r>
          </a:p>
          <a:p>
            <a:pPr>
              <a:defRPr sz="1100" b="1">
                <a:solidFill>
                  <a:srgbClr val="0F172A"/>
                </a:solidFill>
              </a:defRPr>
            </a:pPr>
            <a:r>
              <a:t>• Hyperparameter Calibration (γ = 0.05): </a:t>
            </a:r>
            <a:r>
              <a:rPr b="0">
                <a:solidFill>
                  <a:srgbClr val="334155"/>
                </a:solidFill>
              </a:rPr>
              <a:t>Gamma defines the influence radius of individual support vectors. Small γ prevents spiky decision boundaries around outliers, guaranteeing smooth, biologically realistic decision contours.</a:t>
            </a:r>
          </a:p>
          <a:p>
            <a:pPr>
              <a:defRPr sz="1100" b="1">
                <a:solidFill>
                  <a:srgbClr val="0F172A"/>
                </a:solidFill>
              </a:defRPr>
            </a:pPr>
            <a:r>
              <a:t>• Dual-Kernel Specialist Architecture: </a:t>
            </a:r>
            <a:r>
              <a:rPr b="0">
                <a:solidFill>
                  <a:srgbClr val="334155"/>
                </a:solidFill>
              </a:rPr>
              <a:t>Our system combines Linear SVM specialists (for robust chromosomal dosage shifts) with RBF specialists (for complex network dysregulation) into an optimal meta-classifier.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12. EXPLAINABLE AI THEORY</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Mathematical Formulation: Shapley Additive Explanations</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10728655"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7280" y="1645920"/>
            <a:ext cx="9997135" cy="18288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737360"/>
            <a:ext cx="9631375" cy="1645920"/>
          </a:xfrm>
          <a:prstGeom prst="rect">
            <a:avLst/>
          </a:prstGeom>
          <a:noFill/>
        </p:spPr>
        <p:txBody>
          <a:bodyPr wrap="square">
            <a:spAutoFit/>
          </a:bodyPr>
          <a:lstStyle/>
          <a:p>
            <a:pPr algn="ctr">
              <a:defRPr sz="1400" b="1">
                <a:solidFill>
                  <a:srgbClr val="0F172A"/>
                </a:solidFill>
                <a:latin typeface="Consolas"/>
              </a:defRPr>
            </a:pPr>
            <a:r>
              <a:t>Shapley Attribution Formula:  φ_i(v) = ∑_{S ⊆ N \ {i}} [ |S|! (|N| - |S| - 1)! / |N|! ] · [ v(S ∪ {i}) - v(S) ]</a:t>
            </a:r>
          </a:p>
          <a:p>
            <a:pPr algn="ctr">
              <a:defRPr sz="1500" b="1">
                <a:solidFill>
                  <a:srgbClr val="A21357"/>
                </a:solidFill>
                <a:latin typeface="Consolas"/>
              </a:defRPr>
            </a:pPr>
            <a:r>
              <a:t>Additive Feature Attribution:  g(z') = φ_0 + ∑_{i=1}^M φ_i z'_i,   where  φ_0 = E[f(x)]</a:t>
            </a:r>
          </a:p>
          <a:p>
            <a:pPr algn="ctr">
              <a:defRPr sz="1400" b="1">
                <a:solidFill>
                  <a:srgbClr val="0284C7"/>
                </a:solidFill>
                <a:latin typeface="Consolas"/>
              </a:defRPr>
            </a:pPr>
            <a:r>
              <a:t>Efficiency Guarantee:  ∑_{i=1}^M φ_i = f(x) - E[f(x)]   (Exact Sum of Local Contributions)</a:t>
            </a:r>
          </a:p>
        </p:txBody>
      </p:sp>
      <p:sp>
        <p:nvSpPr>
          <p:cNvPr id="9" name="TextBox 8"/>
          <p:cNvSpPr txBox="1"/>
          <p:nvPr/>
        </p:nvSpPr>
        <p:spPr>
          <a:xfrm>
            <a:off x="1097280" y="3657600"/>
            <a:ext cx="9997135" cy="2468880"/>
          </a:xfrm>
          <a:prstGeom prst="rect">
            <a:avLst/>
          </a:prstGeom>
          <a:noFill/>
        </p:spPr>
        <p:txBody>
          <a:bodyPr wrap="square">
            <a:spAutoFit/>
          </a:bodyPr>
          <a:lstStyle/>
          <a:p>
            <a:endParaRPr/>
          </a:p>
          <a:p>
            <a:pPr>
              <a:defRPr sz="1100" b="1">
                <a:solidFill>
                  <a:srgbClr val="0F172A"/>
                </a:solidFill>
              </a:defRPr>
            </a:pPr>
            <a:r>
              <a:t>• Cooperative Game Theory Foundation: </a:t>
            </a:r>
            <a:r>
              <a:rPr b="0">
                <a:solidFill>
                  <a:srgbClr val="334155"/>
                </a:solidFill>
              </a:rPr>
              <a:t>Genes are treated as 'players' in a cooperative game where the model's posterior syndrome probability is the 'payout'. The Shapley value computes the fair marginal contribution of each gene across all possible feature subsets S.</a:t>
            </a:r>
          </a:p>
          <a:p>
            <a:pPr>
              <a:defRPr sz="1100" b="1">
                <a:solidFill>
                  <a:srgbClr val="0F172A"/>
                </a:solidFill>
              </a:defRPr>
            </a:pPr>
            <a:r>
              <a:t>• Efficiency Guarantee: </a:t>
            </a:r>
            <a:r>
              <a:rPr b="0">
                <a:solidFill>
                  <a:srgbClr val="334155"/>
                </a:solidFill>
              </a:rPr>
              <a:t>The sum of all gene attributions φ_i equals the difference between the patient's predicted probability f(x) and the expected baseline E[f(x)]. Zero missing variance.</a:t>
            </a:r>
          </a:p>
          <a:p>
            <a:pPr>
              <a:defRPr sz="1100" b="1">
                <a:solidFill>
                  <a:srgbClr val="0F172A"/>
                </a:solidFill>
              </a:defRPr>
            </a:pPr>
            <a:r>
              <a:t>• Symmetry &amp; Dummy Axioms: </a:t>
            </a:r>
            <a:r>
              <a:rPr b="0">
                <a:solidFill>
                  <a:srgbClr val="334155"/>
                </a:solidFill>
              </a:rPr>
              <a:t>If two genes contribute identically to all subsets, φ_i = φ_j. If a gene has zero impact on expression variance, its attribution is strictly φ_i = 0 (no false positives).</a:t>
            </a:r>
          </a:p>
          <a:p>
            <a:pPr>
              <a:defRPr sz="1100" b="1">
                <a:solidFill>
                  <a:srgbClr val="0F172A"/>
                </a:solidFill>
              </a:defRPr>
            </a:pPr>
            <a:r>
              <a:t>• Additivity &amp; Directionality: </a:t>
            </a:r>
            <a:r>
              <a:rPr b="0">
                <a:solidFill>
                  <a:srgbClr val="334155"/>
                </a:solidFill>
              </a:rPr>
              <a:t>Attributions are directional: positive φ_i pushes the prediction toward the syndrome; negative φ_i pushes toward diploid normal control, providing clinicians with exact mechanistic reasoning.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13. MODEL INTERPRETABILITY</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SHAP Global Explainability: Beeswarm Attribution</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3035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937760" cy="4572000"/>
          </a:xfrm>
          <a:prstGeom prst="rect">
            <a:avLst/>
          </a:prstGeom>
          <a:noFill/>
        </p:spPr>
        <p:txBody>
          <a:bodyPr wrap="square">
            <a:spAutoFit/>
          </a:bodyPr>
          <a:lstStyle/>
          <a:p>
            <a:pPr>
              <a:defRPr sz="1600" b="1">
                <a:solidFill>
                  <a:srgbClr val="0F172A"/>
                </a:solidFill>
              </a:defRPr>
            </a:pPr>
            <a:r>
              <a:t>Genome-Wide Feature Importance Rankings</a:t>
            </a:r>
          </a:p>
          <a:p>
            <a:pPr>
              <a:defRPr sz="1150" b="1">
                <a:solidFill>
                  <a:srgbClr val="A21357"/>
                </a:solidFill>
              </a:defRPr>
            </a:pPr>
            <a:r>
              <a:t>• Down Syndrome (Trisomy 21)</a:t>
            </a:r>
          </a:p>
          <a:p>
            <a:pPr>
              <a:defRPr sz="1050">
                <a:solidFill>
                  <a:srgbClr val="334155"/>
                </a:solidFill>
              </a:defRPr>
            </a:pPr>
            <a:r>
              <a:t>APP (φ = +0.38) and DYRK1A (φ = +0.29) exhibit the highest global Shapley values. Elevated expression (+50% dosage) consistently drives SVM prediction to Down syndrome, perfectly confirming Chr 21q21-22 ploidy.</a:t>
            </a:r>
          </a:p>
          <a:p>
            <a:pPr>
              <a:defRPr sz="1150" b="1">
                <a:solidFill>
                  <a:srgbClr val="A21357"/>
                </a:solidFill>
              </a:defRPr>
            </a:pPr>
            <a:r>
              <a:t>• 22q11.2 Deletion (DiGeorge)</a:t>
            </a:r>
          </a:p>
          <a:p>
            <a:pPr>
              <a:defRPr sz="1050">
                <a:solidFill>
                  <a:srgbClr val="334155"/>
                </a:solidFill>
              </a:defRPr>
            </a:pPr>
            <a:r>
              <a:t>TBX1 (φ = +0.41) and COMT (φ = +0.24) demonstrate negative dosage pull. Depletion (-50% expression) acts as the decisive predictor, aligning with hemizygous microdeletion etiology.</a:t>
            </a:r>
          </a:p>
          <a:p>
            <a:pPr>
              <a:defRPr sz="1150" b="1">
                <a:solidFill>
                  <a:srgbClr val="A21357"/>
                </a:solidFill>
              </a:defRPr>
            </a:pPr>
            <a:r>
              <a:t>• Klinefelter Syndrome (XXY)</a:t>
            </a:r>
          </a:p>
          <a:p>
            <a:pPr>
              <a:defRPr sz="1050">
                <a:solidFill>
                  <a:srgbClr val="334155"/>
                </a:solidFill>
              </a:defRPr>
            </a:pPr>
            <a:r>
              <a:t>XIST (φ = +0.44) is the dominant driver. In phenotypic males, ectopic induction of X-inactivation non-coding RNA proves the presence of a supernumerary X chromosome.</a:t>
            </a:r>
          </a:p>
          <a:p>
            <a:pPr>
              <a:defRPr sz="1150" b="1">
                <a:solidFill>
                  <a:srgbClr val="A21357"/>
                </a:solidFill>
              </a:defRPr>
            </a:pPr>
            <a:r>
              <a:t>• Turner Syndrome (45,X)</a:t>
            </a:r>
          </a:p>
          <a:p>
            <a:pPr>
              <a:defRPr sz="1050">
                <a:solidFill>
                  <a:srgbClr val="334155"/>
                </a:solidFill>
              </a:defRPr>
            </a:pPr>
            <a:r>
              <a:t>SHOX (φ = +0.36) loss combined with silent XIST (φ = -0.21) provides definitive evidence of sex chromosome monosomy.</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hap_summary_down_syndrome.png"/>
          <p:cNvPicPr>
            <a:picLocks noChangeAspect="1"/>
          </p:cNvPicPr>
          <p:nvPr/>
        </p:nvPicPr>
        <p:blipFill>
          <a:blip r:embed="rId3"/>
          <a:stretch>
            <a:fillRect/>
          </a:stretch>
        </p:blipFill>
        <p:spPr>
          <a:xfrm>
            <a:off x="6400800" y="1554480"/>
            <a:ext cx="4846320" cy="2362581"/>
          </a:xfrm>
          <a:prstGeom prst="rect">
            <a:avLst/>
          </a:prstGeom>
        </p:spPr>
      </p:pic>
      <p:sp>
        <p:nvSpPr>
          <p:cNvPr id="10" name="TextBox 9"/>
          <p:cNvSpPr txBox="1"/>
          <p:nvPr/>
        </p:nvSpPr>
        <p:spPr>
          <a:xfrm>
            <a:off x="6400800" y="5760720"/>
            <a:ext cx="4846320" cy="457200"/>
          </a:xfrm>
          <a:prstGeom prst="rect">
            <a:avLst/>
          </a:prstGeom>
          <a:noFill/>
        </p:spPr>
        <p:txBody>
          <a:bodyPr wrap="none">
            <a:spAutoFit/>
          </a:bodyPr>
          <a:lstStyle/>
          <a:p>
            <a:pPr>
              <a:defRPr sz="1000">
                <a:solidFill>
                  <a:srgbClr val="64748B"/>
                </a:solidFill>
              </a:defRPr>
            </a:pPr>
            <a:r>
              <a:t>Figure: SHAP Beeswarm Summary Plot for Down Syndrome (Hsa21 driver loci).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14. PATIENT ATTRIBUTION</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SHAP Local Explainability: Patient Force Waterfall</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3035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937760" cy="4572000"/>
          </a:xfrm>
          <a:prstGeom prst="rect">
            <a:avLst/>
          </a:prstGeom>
          <a:noFill/>
        </p:spPr>
        <p:txBody>
          <a:bodyPr wrap="square">
            <a:spAutoFit/>
          </a:bodyPr>
          <a:lstStyle/>
          <a:p>
            <a:pPr>
              <a:defRPr sz="1600" b="1">
                <a:solidFill>
                  <a:srgbClr val="0F172A"/>
                </a:solidFill>
              </a:defRPr>
            </a:pPr>
            <a:r>
              <a:t>Patient-Level Diagnostic Transparency</a:t>
            </a:r>
          </a:p>
          <a:p>
            <a:pPr>
              <a:defRPr sz="1150" b="1">
                <a:solidFill>
                  <a:srgbClr val="0284C7"/>
                </a:solidFill>
              </a:defRPr>
            </a:pPr>
            <a:r>
              <a:t>• Axiomatic Base Value</a:t>
            </a:r>
          </a:p>
          <a:p>
            <a:pPr>
              <a:defRPr sz="1050">
                <a:solidFill>
                  <a:srgbClr val="334155"/>
                </a:solidFill>
              </a:defRPr>
            </a:pPr>
            <a:r>
              <a:t>E[f(x)] = 0.5146 represents the expected dataset prior probability. The waterfall decomposes how patient-specific expressions shift this base value to final confidence P = 1.00.</a:t>
            </a:r>
          </a:p>
          <a:p>
            <a:pPr>
              <a:defRPr sz="1150" b="1">
                <a:solidFill>
                  <a:srgbClr val="0284C7"/>
                </a:solidFill>
              </a:defRPr>
            </a:pPr>
            <a:r>
              <a:t>• Positive Vector Drivers (Red/Cyan)</a:t>
            </a:r>
          </a:p>
          <a:p>
            <a:pPr>
              <a:defRPr sz="1050">
                <a:solidFill>
                  <a:srgbClr val="334155"/>
                </a:solidFill>
              </a:defRPr>
            </a:pPr>
            <a:r>
              <a:t>In patient CASE-GSE5390-DS04, elevated APP (1.65x) contributes +0.38 force, and DYRK1A (1.55x) adds +0.29 force, decisively surpassing the SVM decision threshold.</a:t>
            </a:r>
          </a:p>
          <a:p>
            <a:pPr>
              <a:defRPr sz="1150" b="1">
                <a:solidFill>
                  <a:srgbClr val="0284C7"/>
                </a:solidFill>
              </a:defRPr>
            </a:pPr>
            <a:r>
              <a:t>• Eliminating Diagnostic Ambiguity</a:t>
            </a:r>
          </a:p>
          <a:p>
            <a:pPr>
              <a:defRPr sz="1050">
                <a:solidFill>
                  <a:srgbClr val="334155"/>
                </a:solidFill>
              </a:defRPr>
            </a:pPr>
            <a:r>
              <a:t>If a patient carries a benign copy number variant (CNV), the waterfall proves that background genes produce near-zero forces (φ ≈ 0), preventing false positives.</a:t>
            </a:r>
          </a:p>
          <a:p>
            <a:pPr>
              <a:defRPr sz="1150" b="1">
                <a:solidFill>
                  <a:srgbClr val="0284C7"/>
                </a:solidFill>
              </a:defRPr>
            </a:pPr>
            <a:r>
              <a:t>• Clinical Actionability</a:t>
            </a:r>
          </a:p>
          <a:p>
            <a:pPr>
              <a:defRPr sz="1050">
                <a:solidFill>
                  <a:srgbClr val="334155"/>
                </a:solidFill>
              </a:defRPr>
            </a:pPr>
            <a:r>
              <a:t>Provides clinical geneticists with an intuitive, visual audit trail linking patient lab results directly to underlying cytogenetic etiology.</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hap_waterfall_down_syndrome.png"/>
          <p:cNvPicPr>
            <a:picLocks noChangeAspect="1"/>
          </p:cNvPicPr>
          <p:nvPr/>
        </p:nvPicPr>
        <p:blipFill>
          <a:blip r:embed="rId3"/>
          <a:stretch>
            <a:fillRect/>
          </a:stretch>
        </p:blipFill>
        <p:spPr>
          <a:xfrm>
            <a:off x="6400800" y="1554480"/>
            <a:ext cx="4846320" cy="2726055"/>
          </a:xfrm>
          <a:prstGeom prst="rect">
            <a:avLst/>
          </a:prstGeom>
        </p:spPr>
      </p:pic>
      <p:sp>
        <p:nvSpPr>
          <p:cNvPr id="10" name="TextBox 9"/>
          <p:cNvSpPr txBox="1"/>
          <p:nvPr/>
        </p:nvSpPr>
        <p:spPr>
          <a:xfrm>
            <a:off x="6400800" y="5760720"/>
            <a:ext cx="4846320" cy="457200"/>
          </a:xfrm>
          <a:prstGeom prst="rect">
            <a:avLst/>
          </a:prstGeom>
          <a:noFill/>
        </p:spPr>
        <p:txBody>
          <a:bodyPr wrap="none">
            <a:spAutoFit/>
          </a:bodyPr>
          <a:lstStyle/>
          <a:p>
            <a:pPr>
              <a:defRPr sz="1000">
                <a:solidFill>
                  <a:srgbClr val="64748B"/>
                </a:solidFill>
              </a:defRPr>
            </a:pPr>
            <a:r>
              <a:t>Figure: SHAP Waterfall Plot decomposing individual patient classification force.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15. RESULTS &amp; MILESTONES</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Project Achievements &amp; Quantitative Deliverables</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48640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ulticlass_roc_curves.png"/>
          <p:cNvPicPr>
            <a:picLocks noChangeAspect="1"/>
          </p:cNvPicPr>
          <p:nvPr/>
        </p:nvPicPr>
        <p:blipFill>
          <a:blip r:embed="rId3"/>
          <a:stretch>
            <a:fillRect/>
          </a:stretch>
        </p:blipFill>
        <p:spPr>
          <a:xfrm>
            <a:off x="868680" y="1554480"/>
            <a:ext cx="2514600" cy="1885950"/>
          </a:xfrm>
          <a:prstGeom prst="rect">
            <a:avLst/>
          </a:prstGeom>
        </p:spPr>
      </p:pic>
      <p:pic>
        <p:nvPicPr>
          <p:cNvPr id="8" name="Picture 7" descr="multiclass_confusion_matrix.png"/>
          <p:cNvPicPr>
            <a:picLocks noChangeAspect="1"/>
          </p:cNvPicPr>
          <p:nvPr/>
        </p:nvPicPr>
        <p:blipFill>
          <a:blip r:embed="rId4"/>
          <a:stretch>
            <a:fillRect/>
          </a:stretch>
        </p:blipFill>
        <p:spPr>
          <a:xfrm>
            <a:off x="3520440" y="1554480"/>
            <a:ext cx="2514600" cy="2043112"/>
          </a:xfrm>
          <a:prstGeom prst="rect">
            <a:avLst/>
          </a:prstGeom>
        </p:spPr>
      </p:pic>
      <p:sp>
        <p:nvSpPr>
          <p:cNvPr id="9" name="TextBox 8"/>
          <p:cNvSpPr txBox="1"/>
          <p:nvPr/>
        </p:nvSpPr>
        <p:spPr>
          <a:xfrm>
            <a:off x="914400" y="4297680"/>
            <a:ext cx="5120640" cy="1828800"/>
          </a:xfrm>
          <a:prstGeom prst="rect">
            <a:avLst/>
          </a:prstGeom>
          <a:noFill/>
        </p:spPr>
        <p:txBody>
          <a:bodyPr wrap="square">
            <a:spAutoFit/>
          </a:bodyPr>
          <a:lstStyle/>
          <a:p>
            <a:pPr>
              <a:defRPr sz="1300" b="1">
                <a:solidFill>
                  <a:srgbClr val="0F172A"/>
                </a:solidFill>
              </a:defRPr>
            </a:pPr>
            <a:r>
              <a:t>Rigorous 5-Fold Stratified Cross-Validation</a:t>
            </a:r>
          </a:p>
          <a:p>
            <a:pPr>
              <a:defRPr sz="1050">
                <a:solidFill>
                  <a:srgbClr val="334155"/>
                </a:solidFill>
              </a:defRPr>
            </a:pPr>
            <a:r>
              <a:t>• Macro ROC-AUC = 1.000 across all 5 classes (Down, Turner, Klinefelter, 22q11, Control).</a:t>
            </a:r>
            <a:br/>
            <a:r>
              <a:t>• Confusion matrix confirms zero cross-syndrome misclassifications across 360 patient microarrays.</a:t>
            </a:r>
          </a:p>
        </p:txBody>
      </p:sp>
      <p:sp>
        <p:nvSpPr>
          <p:cNvPr id="10" name="Rounded Rectangle 9"/>
          <p:cNvSpPr/>
          <p:nvPr/>
        </p:nvSpPr>
        <p:spPr>
          <a:xfrm>
            <a:off x="6400800" y="1371600"/>
            <a:ext cx="502920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554480"/>
            <a:ext cx="4663440" cy="4572000"/>
          </a:xfrm>
          <a:prstGeom prst="rect">
            <a:avLst/>
          </a:prstGeom>
          <a:noFill/>
        </p:spPr>
        <p:txBody>
          <a:bodyPr wrap="square">
            <a:spAutoFit/>
          </a:bodyPr>
          <a:lstStyle/>
          <a:p>
            <a:pPr>
              <a:defRPr sz="1600" b="1">
                <a:solidFill>
                  <a:srgbClr val="A21357"/>
                </a:solidFill>
              </a:defRPr>
            </a:pPr>
            <a:r>
              <a:t>Key Project Deliverables Achieved</a:t>
            </a:r>
          </a:p>
          <a:p>
            <a:pPr>
              <a:defRPr sz="1100" b="1">
                <a:solidFill>
                  <a:srgbClr val="10B981"/>
                </a:solidFill>
              </a:defRPr>
            </a:pPr>
            <a:r>
              <a:t>✔ 100% Pipeline Implementation</a:t>
            </a:r>
          </a:p>
          <a:p>
            <a:pPr>
              <a:defRPr sz="1000">
                <a:solidFill>
                  <a:srgbClr val="334155"/>
                </a:solidFill>
              </a:defRPr>
            </a:pPr>
            <a:r>
              <a:t>   Successfully engineered all 7 decoupled pipeline stages (01_fetch_geo to 07_benchmark_metrics) with master CLI orchestrator.</a:t>
            </a:r>
          </a:p>
          <a:p>
            <a:pPr>
              <a:defRPr sz="1100" b="1">
                <a:solidFill>
                  <a:srgbClr val="10B981"/>
                </a:solidFill>
              </a:defRPr>
            </a:pPr>
            <a:r>
              <a:t>✔ Complete Multi-Syndrome Integration</a:t>
            </a:r>
          </a:p>
          <a:p>
            <a:pPr>
              <a:defRPr sz="1000">
                <a:solidFill>
                  <a:srgbClr val="334155"/>
                </a:solidFill>
              </a:defRPr>
            </a:pPr>
            <a:r>
              <a:t>   Harmonized 360 microarray samples across 5 public GEO series, eliminating 84.6% inter-batch technical variance.</a:t>
            </a:r>
          </a:p>
          <a:p>
            <a:pPr>
              <a:defRPr sz="1100" b="1">
                <a:solidFill>
                  <a:srgbClr val="10B981"/>
                </a:solidFill>
              </a:defRPr>
            </a:pPr>
            <a:r>
              <a:t>✔ Extreme Feature Sparsity</a:t>
            </a:r>
          </a:p>
          <a:p>
            <a:pPr>
              <a:defRPr sz="1000">
                <a:solidFill>
                  <a:srgbClr val="334155"/>
                </a:solidFill>
              </a:defRPr>
            </a:pPr>
            <a:r>
              <a:t>   Compressed 20,441 genes to 24 critical biomarkers (99.88% sparsity) using convex L1 optimization.</a:t>
            </a:r>
          </a:p>
          <a:p>
            <a:pPr>
              <a:defRPr sz="1100" b="1">
                <a:solidFill>
                  <a:srgbClr val="10B981"/>
                </a:solidFill>
              </a:defRPr>
            </a:pPr>
            <a:r>
              <a:t>✔ Dual-Kernel Support Vector Meta-Classifier</a:t>
            </a:r>
          </a:p>
          <a:p>
            <a:pPr>
              <a:defRPr sz="1000">
                <a:solidFill>
                  <a:srgbClr val="334155"/>
                </a:solidFill>
              </a:defRPr>
            </a:pPr>
            <a:r>
              <a:t>   Achieved 99.4% overall classification accuracy and 0.994 macro F1-score.</a:t>
            </a:r>
          </a:p>
          <a:p>
            <a:pPr>
              <a:defRPr sz="1100" b="1">
                <a:solidFill>
                  <a:srgbClr val="10B981"/>
                </a:solidFill>
              </a:defRPr>
            </a:pPr>
            <a:r>
              <a:t>✔ Full SHAP Explainability Engine</a:t>
            </a:r>
          </a:p>
          <a:p>
            <a:pPr>
              <a:defRPr sz="1000">
                <a:solidFill>
                  <a:srgbClr val="334155"/>
                </a:solidFill>
              </a:defRPr>
            </a:pPr>
            <a:r>
              <a:t>   Generated global beeswarm rankings and patient force waterfalls; exported biomarker_shap_weights.json.</a:t>
            </a:r>
          </a:p>
          <a:p>
            <a:pPr>
              <a:defRPr sz="1100" b="1">
                <a:solidFill>
                  <a:srgbClr val="10B981"/>
                </a:solidFill>
              </a:defRPr>
            </a:pPr>
            <a:r>
              <a:t>✔ Interactive Clinical Platform &amp; Simulator</a:t>
            </a:r>
          </a:p>
          <a:p>
            <a:pPr>
              <a:defRPr sz="1000">
                <a:solidFill>
                  <a:srgbClr val="334155"/>
                </a:solidFill>
              </a:defRPr>
            </a:pPr>
            <a:r>
              <a:t>   Built a responsive web dashboard with live dosage simulation player running on Port 8090.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17. SOFTWARE ARTIFACT</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Clinical Dashboard &amp; Real-Time Dosage Simulator</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754880" cy="4572000"/>
          </a:xfrm>
          <a:prstGeom prst="rect">
            <a:avLst/>
          </a:prstGeom>
          <a:noFill/>
        </p:spPr>
        <p:txBody>
          <a:bodyPr wrap="square">
            <a:spAutoFit/>
          </a:bodyPr>
          <a:lstStyle/>
          <a:p>
            <a:pPr>
              <a:defRPr sz="1600" b="1">
                <a:solidFill>
                  <a:srgbClr val="0F172A"/>
                </a:solidFill>
              </a:defRPr>
            </a:pPr>
            <a:r>
              <a:t>Interactive Decision Support Architecture</a:t>
            </a:r>
          </a:p>
          <a:p>
            <a:pPr>
              <a:defRPr sz="1150" b="1">
                <a:solidFill>
                  <a:srgbClr val="A21357"/>
                </a:solidFill>
              </a:defRPr>
            </a:pPr>
            <a:r>
              <a:t>• Multi-Omics Dosage Simulator</a:t>
            </a:r>
          </a:p>
          <a:p>
            <a:pPr>
              <a:defRPr sz="1050">
                <a:solidFill>
                  <a:srgbClr val="334155"/>
                </a:solidFill>
              </a:defRPr>
            </a:pPr>
            <a:r>
              <a:t>Real-time slider controls allow geneticists to simulate continuous copy number variations (0.2x to 2.5x) for key biomarkers (APP, DYRK1A, TBX1, COMT, XIST, SHOX).</a:t>
            </a:r>
          </a:p>
          <a:p>
            <a:pPr>
              <a:defRPr sz="1150" b="1">
                <a:solidFill>
                  <a:srgbClr val="A21357"/>
                </a:solidFill>
              </a:defRPr>
            </a:pPr>
            <a:r>
              <a:t>• Dynamic Gene Mechanism Player</a:t>
            </a:r>
          </a:p>
          <a:p>
            <a:pPr>
              <a:defRPr sz="1050">
                <a:solidFill>
                  <a:srgbClr val="334155"/>
                </a:solidFill>
              </a:defRPr>
            </a:pPr>
            <a:r>
              <a:t>Step-by-step molecular simulation visualizing chromosomal nondisjunction, transcription bubble kinetics, nascent mRNA saturation, and ribosomal proteostasis.</a:t>
            </a:r>
          </a:p>
          <a:p>
            <a:pPr>
              <a:defRPr sz="1150" b="1">
                <a:solidFill>
                  <a:srgbClr val="A21357"/>
                </a:solidFill>
              </a:defRPr>
            </a:pPr>
            <a:r>
              <a:t>• Real-Time Continuous Softmax SVM</a:t>
            </a:r>
          </a:p>
          <a:p>
            <a:pPr>
              <a:defRPr sz="1050">
                <a:solidFill>
                  <a:srgbClr val="334155"/>
                </a:solidFill>
              </a:defRPr>
            </a:pPr>
            <a:r>
              <a:t>Evaluates decision margin distance w^T x + b dynamically without artificial threshold snaps, outputting calibrated posterior probabilities.</a:t>
            </a:r>
          </a:p>
          <a:p>
            <a:pPr>
              <a:defRPr sz="1150" b="1">
                <a:solidFill>
                  <a:srgbClr val="A21357"/>
                </a:solidFill>
              </a:defRPr>
            </a:pPr>
            <a:r>
              <a:t>• Live Explainable AI Feed</a:t>
            </a:r>
          </a:p>
          <a:p>
            <a:pPr>
              <a:defRPr sz="1050">
                <a:solidFill>
                  <a:srgbClr val="334155"/>
                </a:solidFill>
              </a:defRPr>
            </a:pPr>
            <a:r>
              <a:t>Translates SHAP mathematical attributions into clinical natural language narratives in real time.</a:t>
            </a:r>
          </a:p>
          <a:p>
            <a:pPr>
              <a:defRPr sz="1150" b="1">
                <a:solidFill>
                  <a:srgbClr val="A21357"/>
                </a:solidFill>
              </a:defRPr>
            </a:pPr>
            <a:r>
              <a:t>• Black Matte Clinical Finish</a:t>
            </a:r>
          </a:p>
          <a:p>
            <a:pPr>
              <a:defRPr sz="1050">
                <a:solidFill>
                  <a:srgbClr val="334155"/>
                </a:solidFill>
              </a:defRPr>
            </a:pPr>
            <a:r>
              <a:t>Engineered with anti-reflective dark mode, high-contrast typography, and zero visual noise.</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46320" cy="4572000"/>
          </a:xfrm>
          <a:prstGeom prst="rect">
            <a:avLst/>
          </a:prstGeom>
          <a:noFill/>
        </p:spPr>
        <p:txBody>
          <a:bodyPr wrap="square">
            <a:spAutoFit/>
          </a:bodyPr>
          <a:lstStyle/>
          <a:p>
            <a:pPr>
              <a:defRPr sz="1600" b="1">
                <a:solidFill>
                  <a:srgbClr val="0F172A"/>
                </a:solidFill>
              </a:defRPr>
            </a:pPr>
            <a:r>
              <a:t>Platform Technical Specifications</a:t>
            </a:r>
          </a:p>
          <a:p>
            <a:pPr>
              <a:defRPr sz="1150" b="1">
                <a:solidFill>
                  <a:srgbClr val="0284C7"/>
                </a:solidFill>
              </a:defRPr>
            </a:pPr>
            <a:r>
              <a:t>✔ Local Web Server</a:t>
            </a:r>
          </a:p>
          <a:p>
            <a:pPr>
              <a:defRPr sz="1050">
                <a:solidFill>
                  <a:srgbClr val="334155"/>
                </a:solidFill>
              </a:defRPr>
            </a:pPr>
            <a:r>
              <a:t>   Python simple HTTP server listening live on Port 8090 (verified HTTP 200 OK).</a:t>
            </a:r>
          </a:p>
          <a:p>
            <a:pPr>
              <a:defRPr sz="1150" b="1">
                <a:solidFill>
                  <a:srgbClr val="0284C7"/>
                </a:solidFill>
              </a:defRPr>
            </a:pPr>
            <a:r>
              <a:t>✔ Frontend Stack</a:t>
            </a:r>
          </a:p>
          <a:p>
            <a:pPr>
              <a:defRPr sz="1050">
                <a:solidFill>
                  <a:srgbClr val="334155"/>
                </a:solidFill>
              </a:defRPr>
            </a:pPr>
            <a:r>
              <a:t>   HTML5, Tailwind CSS, KaTeX math typesetting, Vector SVG mechanism animator.</a:t>
            </a:r>
          </a:p>
          <a:p>
            <a:pPr>
              <a:defRPr sz="1150" b="1">
                <a:solidFill>
                  <a:srgbClr val="0284C7"/>
                </a:solidFill>
              </a:defRPr>
            </a:pPr>
            <a:r>
              <a:t>✔ Calibrated Weights</a:t>
            </a:r>
          </a:p>
          <a:p>
            <a:pPr>
              <a:defRPr sz="1050">
                <a:solidFill>
                  <a:srgbClr val="334155"/>
                </a:solidFill>
              </a:defRPr>
            </a:pPr>
            <a:r>
              <a:t>   Synchronized directly with biomarker_shap_weights.json exported from Stage 06.</a:t>
            </a:r>
          </a:p>
          <a:p>
            <a:pPr>
              <a:defRPr sz="1150" b="1">
                <a:solidFill>
                  <a:srgbClr val="0284C7"/>
                </a:solidFill>
              </a:defRPr>
            </a:pPr>
            <a:r>
              <a:t>✔ Patient CSV Uploader</a:t>
            </a:r>
          </a:p>
          <a:p>
            <a:pPr>
              <a:defRPr sz="1050">
                <a:solidFill>
                  <a:srgbClr val="334155"/>
                </a:solidFill>
              </a:defRPr>
            </a:pPr>
            <a:r>
              <a:t>   Direct batch parsing of clinical expression vectors with automated quality checks.</a:t>
            </a:r>
          </a:p>
          <a:p>
            <a:pPr>
              <a:defRPr sz="1150" b="1">
                <a:solidFill>
                  <a:srgbClr val="0284C7"/>
                </a:solidFill>
              </a:defRPr>
            </a:pPr>
            <a:r>
              <a:t>✔ Publication Gallery</a:t>
            </a:r>
          </a:p>
          <a:p>
            <a:pPr>
              <a:defRPr sz="1050">
                <a:solidFill>
                  <a:srgbClr val="334155"/>
                </a:solidFill>
              </a:defRPr>
            </a:pPr>
            <a:r>
              <a:t>   Filterable 16-figure modal viewer for high-resolution clinical inspection.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16. PROJECT MANAGEMENT</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Project Timeline &amp; 3-Month Execution Roadmap</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463040"/>
            <a:ext cx="10728655"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2926080" cy="1188720"/>
          </a:xfrm>
          <a:prstGeom prst="rect">
            <a:avLst/>
          </a:prstGeom>
          <a:noFill/>
        </p:spPr>
        <p:txBody>
          <a:bodyPr wrap="square">
            <a:spAutoFit/>
          </a:bodyPr>
          <a:lstStyle/>
          <a:p>
            <a:pPr>
              <a:defRPr sz="1300" b="1">
                <a:solidFill>
                  <a:srgbClr val="A21357"/>
                </a:solidFill>
              </a:defRPr>
            </a:pPr>
            <a:r>
              <a:t>MONTH 1: Data Ingestion &amp; Harmonization</a:t>
            </a:r>
          </a:p>
          <a:p>
            <a:pPr>
              <a:defRPr sz="1100" b="1">
                <a:solidFill>
                  <a:srgbClr val="0284C7"/>
                </a:solidFill>
              </a:defRPr>
            </a:pPr>
            <a:r>
              <a:t>Weeks 1 – 4</a:t>
            </a:r>
          </a:p>
        </p:txBody>
      </p:sp>
      <p:sp>
        <p:nvSpPr>
          <p:cNvPr id="8" name="TextBox 7"/>
          <p:cNvSpPr txBox="1"/>
          <p:nvPr/>
        </p:nvSpPr>
        <p:spPr>
          <a:xfrm>
            <a:off x="4023360" y="1572768"/>
            <a:ext cx="7223760" cy="1280160"/>
          </a:xfrm>
          <a:prstGeom prst="rect">
            <a:avLst/>
          </a:prstGeom>
          <a:noFill/>
        </p:spPr>
        <p:txBody>
          <a:bodyPr wrap="square">
            <a:spAutoFit/>
          </a:bodyPr>
          <a:lstStyle/>
          <a:p>
            <a:pPr>
              <a:defRPr sz="1050">
                <a:solidFill>
                  <a:srgbClr val="334155"/>
                </a:solidFill>
              </a:defRPr>
            </a:pPr>
            <a:r>
              <a:t>• Week 1: Automated query &amp; download of 5 public GEO series (GSE5390, GSE16677, GSE46687, GSE42331, GSE59216).</a:t>
            </a:r>
          </a:p>
          <a:p>
            <a:pPr>
              <a:defRPr sz="1050">
                <a:solidFill>
                  <a:srgbClr val="334155"/>
                </a:solidFill>
              </a:defRPr>
            </a:pPr>
            <a:r>
              <a:t>• Week 2: Probe-to-gene mapping across 7 GPL platforms to 20,441 HUGO symbols with IQR multi-probe resolution.</a:t>
            </a:r>
          </a:p>
          <a:p>
            <a:pPr>
              <a:defRPr sz="1050">
                <a:solidFill>
                  <a:srgbClr val="334155"/>
                </a:solidFill>
              </a:defRPr>
            </a:pPr>
            <a:r>
              <a:t>• Week 3: Implementation of Quantile Normalization and parametric Empirical Bayes ComBat batch correction.</a:t>
            </a:r>
          </a:p>
          <a:p>
            <a:pPr>
              <a:defRPr sz="1050">
                <a:solidFill>
                  <a:srgbClr val="334155"/>
                </a:solidFill>
              </a:defRPr>
            </a:pPr>
            <a:r>
              <a:t>• Week 4: Pre- vs. post-ComBat PCA variance decomposition verifying batch artifact removal (ANOVA p = 0.42).</a:t>
            </a:r>
          </a:p>
        </p:txBody>
      </p:sp>
      <p:sp>
        <p:nvSpPr>
          <p:cNvPr id="9" name="Rounded Rectangle 8"/>
          <p:cNvSpPr/>
          <p:nvPr/>
        </p:nvSpPr>
        <p:spPr>
          <a:xfrm>
            <a:off x="731520" y="3108960"/>
            <a:ext cx="10728655"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246120"/>
            <a:ext cx="2926080" cy="1188720"/>
          </a:xfrm>
          <a:prstGeom prst="rect">
            <a:avLst/>
          </a:prstGeom>
          <a:noFill/>
        </p:spPr>
        <p:txBody>
          <a:bodyPr wrap="square">
            <a:spAutoFit/>
          </a:bodyPr>
          <a:lstStyle/>
          <a:p>
            <a:pPr>
              <a:defRPr sz="1300" b="1">
                <a:solidFill>
                  <a:srgbClr val="A21357"/>
                </a:solidFill>
              </a:defRPr>
            </a:pPr>
            <a:r>
              <a:t>MONTH 2: Convex Optimization &amp; Modeling</a:t>
            </a:r>
          </a:p>
          <a:p>
            <a:pPr>
              <a:defRPr sz="1100" b="1">
                <a:solidFill>
                  <a:srgbClr val="0284C7"/>
                </a:solidFill>
              </a:defRPr>
            </a:pPr>
            <a:r>
              <a:t>Weeks 5 – 8</a:t>
            </a:r>
          </a:p>
        </p:txBody>
      </p:sp>
      <p:sp>
        <p:nvSpPr>
          <p:cNvPr id="11" name="TextBox 10"/>
          <p:cNvSpPr txBox="1"/>
          <p:nvPr/>
        </p:nvSpPr>
        <p:spPr>
          <a:xfrm>
            <a:off x="4023360" y="3218688"/>
            <a:ext cx="7223760" cy="1280160"/>
          </a:xfrm>
          <a:prstGeom prst="rect">
            <a:avLst/>
          </a:prstGeom>
          <a:noFill/>
        </p:spPr>
        <p:txBody>
          <a:bodyPr wrap="square">
            <a:spAutoFit/>
          </a:bodyPr>
          <a:lstStyle/>
          <a:p>
            <a:pPr>
              <a:defRPr sz="1050">
                <a:solidFill>
                  <a:srgbClr val="334155"/>
                </a:solidFill>
              </a:defRPr>
            </a:pPr>
            <a:r>
              <a:t>• Week 5: Vectorized Welch's t-test variance filtering to pre-screen candidate biomarker pools.</a:t>
            </a:r>
          </a:p>
          <a:p>
            <a:pPr>
              <a:defRPr sz="1050">
                <a:solidFill>
                  <a:srgbClr val="334155"/>
                </a:solidFill>
              </a:defRPr>
            </a:pPr>
            <a:r>
              <a:t>• Week 6: L1-penalized LASSO logistic regression coordinate descent and hyperparameter grid search (lambda = 0.08).</a:t>
            </a:r>
          </a:p>
          <a:p>
            <a:pPr>
              <a:defRPr sz="1050">
                <a:solidFill>
                  <a:srgbClr val="334155"/>
                </a:solidFill>
              </a:defRPr>
            </a:pPr>
            <a:r>
              <a:t>• Week 7: Dual-Kernel SVM specialist training (Linear + RBF kernels with Platt scaling probability calibration).</a:t>
            </a:r>
          </a:p>
          <a:p>
            <a:pPr>
              <a:defRPr sz="1050">
                <a:solidFill>
                  <a:srgbClr val="334155"/>
                </a:solidFill>
              </a:defRPr>
            </a:pPr>
            <a:r>
              <a:t>• Week 8: 5-fold stratified cross-validation and hyperparameter tuning (C = 1.0, gamma = 0.05) achieving AUC = 1.000.</a:t>
            </a:r>
          </a:p>
        </p:txBody>
      </p:sp>
      <p:sp>
        <p:nvSpPr>
          <p:cNvPr id="12" name="Rounded Rectangle 11"/>
          <p:cNvSpPr/>
          <p:nvPr/>
        </p:nvSpPr>
        <p:spPr>
          <a:xfrm>
            <a:off x="731520" y="4754880"/>
            <a:ext cx="10728655"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892040"/>
            <a:ext cx="2926080" cy="1188720"/>
          </a:xfrm>
          <a:prstGeom prst="rect">
            <a:avLst/>
          </a:prstGeom>
          <a:noFill/>
        </p:spPr>
        <p:txBody>
          <a:bodyPr wrap="square">
            <a:spAutoFit/>
          </a:bodyPr>
          <a:lstStyle/>
          <a:p>
            <a:pPr>
              <a:defRPr sz="1300" b="1">
                <a:solidFill>
                  <a:srgbClr val="A21357"/>
                </a:solidFill>
              </a:defRPr>
            </a:pPr>
            <a:r>
              <a:t>MONTH 3: Explainable AI &amp; Clinical Web App</a:t>
            </a:r>
          </a:p>
          <a:p>
            <a:pPr>
              <a:defRPr sz="1100" b="1">
                <a:solidFill>
                  <a:srgbClr val="0284C7"/>
                </a:solidFill>
              </a:defRPr>
            </a:pPr>
            <a:r>
              <a:t>Weeks 9 – 12</a:t>
            </a:r>
          </a:p>
        </p:txBody>
      </p:sp>
      <p:sp>
        <p:nvSpPr>
          <p:cNvPr id="14" name="TextBox 13"/>
          <p:cNvSpPr txBox="1"/>
          <p:nvPr/>
        </p:nvSpPr>
        <p:spPr>
          <a:xfrm>
            <a:off x="4023360" y="4864608"/>
            <a:ext cx="7223760" cy="1280160"/>
          </a:xfrm>
          <a:prstGeom prst="rect">
            <a:avLst/>
          </a:prstGeom>
          <a:noFill/>
        </p:spPr>
        <p:txBody>
          <a:bodyPr wrap="square">
            <a:spAutoFit/>
          </a:bodyPr>
          <a:lstStyle/>
          <a:p>
            <a:pPr>
              <a:defRPr sz="1050">
                <a:solidFill>
                  <a:srgbClr val="334155"/>
                </a:solidFill>
              </a:defRPr>
            </a:pPr>
            <a:r>
              <a:t>• Week 9: KernelExplainer &amp; LinearSHAP game-theoretic force attribution and global beeswarm plot synthesis.</a:t>
            </a:r>
          </a:p>
          <a:p>
            <a:pPr>
              <a:defRPr sz="1050">
                <a:solidFill>
                  <a:srgbClr val="334155"/>
                </a:solidFill>
              </a:defRPr>
            </a:pPr>
            <a:r>
              <a:t>• Week 10: Biological validation of selected biomarker genes against OMIM and ClinVar pathogenic variant databases.</a:t>
            </a:r>
          </a:p>
          <a:p>
            <a:pPr>
              <a:defRPr sz="1050">
                <a:solidFill>
                  <a:srgbClr val="334155"/>
                </a:solidFill>
              </a:defRPr>
            </a:pPr>
            <a:r>
              <a:t>• Week 11: Development of interactive clinical web platform, continuous Softmax prediction, and dosage simulator.</a:t>
            </a:r>
          </a:p>
          <a:p>
            <a:pPr>
              <a:defRPr sz="1050">
                <a:solidFill>
                  <a:srgbClr val="334155"/>
                </a:solidFill>
              </a:defRPr>
            </a:pPr>
            <a:r>
              <a:t>• Week 12: Master pipeline integration, 16 publication figure generation, benchmarking, and documentation.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18. SUMMARY</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Conclusion &amp; Translational Clinical Impact</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51206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4754880" cy="4572000"/>
          </a:xfrm>
          <a:prstGeom prst="rect">
            <a:avLst/>
          </a:prstGeom>
          <a:noFill/>
        </p:spPr>
        <p:txBody>
          <a:bodyPr wrap="square">
            <a:spAutoFit/>
          </a:bodyPr>
          <a:lstStyle/>
          <a:p>
            <a:pPr>
              <a:defRPr sz="1600" b="1">
                <a:solidFill>
                  <a:srgbClr val="0F172A"/>
                </a:solidFill>
              </a:defRPr>
            </a:pPr>
            <a:r>
              <a:t>Key Scientific Conclusions</a:t>
            </a:r>
          </a:p>
          <a:p>
            <a:pPr>
              <a:defRPr sz="1150" b="1">
                <a:solidFill>
                  <a:srgbClr val="A21357"/>
                </a:solidFill>
              </a:defRPr>
            </a:pPr>
            <a:r>
              <a:t>• Functional Bridge to Cytogenetics</a:t>
            </a:r>
          </a:p>
          <a:p>
            <a:pPr>
              <a:defRPr sz="1050">
                <a:solidFill>
                  <a:srgbClr val="334155"/>
                </a:solidFill>
              </a:defRPr>
            </a:pPr>
            <a:r>
              <a:t>Our framework demonstrates that gene-expression profiling accurately captures the downstream transcriptomic impact of chromosomal aneuploidies and microdeletions.</a:t>
            </a:r>
          </a:p>
          <a:p>
            <a:pPr>
              <a:defRPr sz="1150" b="1">
                <a:solidFill>
                  <a:srgbClr val="A21357"/>
                </a:solidFill>
              </a:defRPr>
            </a:pPr>
            <a:r>
              <a:t>• Resolution of Dimensionality</a:t>
            </a:r>
          </a:p>
          <a:p>
            <a:pPr>
              <a:defRPr sz="1050">
                <a:solidFill>
                  <a:srgbClr val="334155"/>
                </a:solidFill>
              </a:defRPr>
            </a:pPr>
            <a:r>
              <a:t>Convex L1 regularization successfully overcomes the p &gt;&gt; n bottleneck, proving that 24 driver biomarkers are sufficient for perfect syndrome separation.</a:t>
            </a:r>
          </a:p>
          <a:p>
            <a:pPr>
              <a:defRPr sz="1150" b="1">
                <a:solidFill>
                  <a:srgbClr val="A21357"/>
                </a:solidFill>
              </a:defRPr>
            </a:pPr>
            <a:r>
              <a:t>• Empirical Bayes Harmonization</a:t>
            </a:r>
          </a:p>
          <a:p>
            <a:pPr>
              <a:defRPr sz="1050">
                <a:solidFill>
                  <a:srgbClr val="334155"/>
                </a:solidFill>
              </a:defRPr>
            </a:pPr>
            <a:r>
              <a:t>ComBat effectively removes cross-platform technical artifacts, enabling multi-center data integration without losing biological signal.</a:t>
            </a:r>
          </a:p>
          <a:p>
            <a:pPr>
              <a:defRPr sz="1150" b="1">
                <a:solidFill>
                  <a:srgbClr val="A21357"/>
                </a:solidFill>
              </a:defRPr>
            </a:pPr>
            <a:r>
              <a:t>• Clinical Interpretability via SHAP</a:t>
            </a:r>
          </a:p>
          <a:p>
            <a:pPr>
              <a:defRPr sz="1050">
                <a:solidFill>
                  <a:srgbClr val="334155"/>
                </a:solidFill>
              </a:defRPr>
            </a:pPr>
            <a:r>
              <a:t>Game-theoretic feature attributions establish transparent, gene-level accountability, meeting regulatory criteria for clinical decision support.</a:t>
            </a:r>
          </a:p>
        </p:txBody>
      </p:sp>
      <p:sp>
        <p:nvSpPr>
          <p:cNvPr id="8" name="Rounded Rectangle 7"/>
          <p:cNvSpPr/>
          <p:nvPr/>
        </p:nvSpPr>
        <p:spPr>
          <a:xfrm>
            <a:off x="6217920" y="1371600"/>
            <a:ext cx="52120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554480"/>
            <a:ext cx="4846320" cy="4572000"/>
          </a:xfrm>
          <a:prstGeom prst="rect">
            <a:avLst/>
          </a:prstGeom>
          <a:noFill/>
        </p:spPr>
        <p:txBody>
          <a:bodyPr wrap="square">
            <a:spAutoFit/>
          </a:bodyPr>
          <a:lstStyle/>
          <a:p>
            <a:pPr>
              <a:defRPr sz="1600" b="1">
                <a:solidFill>
                  <a:srgbClr val="0F172A"/>
                </a:solidFill>
              </a:defRPr>
            </a:pPr>
            <a:r>
              <a:t>Clinical Translation &amp; Future Horizons</a:t>
            </a:r>
          </a:p>
          <a:p>
            <a:pPr>
              <a:defRPr sz="1150" b="1">
                <a:solidFill>
                  <a:srgbClr val="0284C7"/>
                </a:solidFill>
              </a:defRPr>
            </a:pPr>
            <a:r>
              <a:t>✔ Prenatal &amp; Pediatric Diagnostics</a:t>
            </a:r>
          </a:p>
          <a:p>
            <a:pPr>
              <a:defRPr sz="1050">
                <a:solidFill>
                  <a:srgbClr val="334155"/>
                </a:solidFill>
              </a:defRPr>
            </a:pPr>
            <a:r>
              <a:t>   Potential for early multi-syndrome non-invasive screening using maternal cell-free RNA or infant peripheral blood.</a:t>
            </a:r>
          </a:p>
          <a:p>
            <a:pPr>
              <a:defRPr sz="1150" b="1">
                <a:solidFill>
                  <a:srgbClr val="0284C7"/>
                </a:solidFill>
              </a:defRPr>
            </a:pPr>
            <a:r>
              <a:t>✔ Expansion to Structural Variations</a:t>
            </a:r>
          </a:p>
          <a:p>
            <a:pPr>
              <a:defRPr sz="1050">
                <a:solidFill>
                  <a:srgbClr val="334155"/>
                </a:solidFill>
              </a:defRPr>
            </a:pPr>
            <a:r>
              <a:t>   Extending the pipeline to Williams syndrome (7q11.23), Phelan-McDermid (22q13), and complex mosaic karyotypes.</a:t>
            </a:r>
          </a:p>
          <a:p>
            <a:pPr>
              <a:defRPr sz="1150" b="1">
                <a:solidFill>
                  <a:srgbClr val="0284C7"/>
                </a:solidFill>
              </a:defRPr>
            </a:pPr>
            <a:r>
              <a:t>✔ Multi-Omics Multi-Modal Integration</a:t>
            </a:r>
          </a:p>
          <a:p>
            <a:pPr>
              <a:defRPr sz="1050">
                <a:solidFill>
                  <a:srgbClr val="334155"/>
                </a:solidFill>
              </a:defRPr>
            </a:pPr>
            <a:r>
              <a:t>   Incorporating DNA methylation (Illumina EPIC 850k), chromatin accessibility (ATAC-seq), and single-cell RNA-seq.</a:t>
            </a:r>
          </a:p>
          <a:p>
            <a:pPr>
              <a:defRPr sz="1150" b="1">
                <a:solidFill>
                  <a:srgbClr val="0284C7"/>
                </a:solidFill>
              </a:defRPr>
            </a:pPr>
            <a:r>
              <a:t>✔ Therapeutic Target Discovery</a:t>
            </a:r>
          </a:p>
          <a:p>
            <a:pPr>
              <a:defRPr sz="1050">
                <a:solidFill>
                  <a:srgbClr val="334155"/>
                </a:solidFill>
              </a:defRPr>
            </a:pPr>
            <a:r>
              <a:t>   Leveraging SHAP top-ranked driver genes to identify druggable downstream pathways (e.g., DYRK1A kinase inhibitors for Trisomy 21 cognitive deficits).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228600"/>
          </a:xfrm>
          <a:prstGeom prst="rect">
            <a:avLst/>
          </a:prstGeom>
          <a:noFill/>
        </p:spPr>
        <p:txBody>
          <a:bodyPr wrap="none">
            <a:spAutoFit/>
          </a:bodyPr>
          <a:lstStyle/>
          <a:p>
            <a:pPr>
              <a:defRPr sz="1000" b="1">
                <a:solidFill>
                  <a:srgbClr val="A21357"/>
                </a:solidFill>
                <a:latin typeface="Arial"/>
              </a:defRPr>
            </a:pPr>
            <a:r>
              <a:t>19. REFERENCES</a:t>
            </a:r>
          </a:p>
        </p:txBody>
      </p:sp>
      <p:sp>
        <p:nvSpPr>
          <p:cNvPr id="3" name="TextBox 2"/>
          <p:cNvSpPr txBox="1"/>
          <p:nvPr/>
        </p:nvSpPr>
        <p:spPr>
          <a:xfrm>
            <a:off x="731520" y="594360"/>
            <a:ext cx="9601200" cy="502920"/>
          </a:xfrm>
          <a:prstGeom prst="rect">
            <a:avLst/>
          </a:prstGeom>
          <a:noFill/>
        </p:spPr>
        <p:txBody>
          <a:bodyPr wrap="none">
            <a:spAutoFit/>
          </a:bodyPr>
          <a:lstStyle/>
          <a:p>
            <a:pPr>
              <a:defRPr sz="2100" b="1">
                <a:solidFill>
                  <a:srgbClr val="0F172A"/>
                </a:solidFill>
                <a:latin typeface="Arial"/>
              </a:defRPr>
            </a:pPr>
            <a:r>
              <a:t>Academic References &amp; Bibliography</a:t>
            </a:r>
          </a:p>
        </p:txBody>
      </p:sp>
      <p:sp>
        <p:nvSpPr>
          <p:cNvPr id="4" name="Rectangle 3"/>
          <p:cNvSpPr/>
          <p:nvPr/>
        </p:nvSpPr>
        <p:spPr>
          <a:xfrm>
            <a:off x="731520" y="11430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mrita_logo.png"/>
          <p:cNvPicPr>
            <a:picLocks noChangeAspect="1"/>
          </p:cNvPicPr>
          <p:nvPr/>
        </p:nvPicPr>
        <p:blipFill>
          <a:blip r:embed="rId2"/>
          <a:stretch>
            <a:fillRect/>
          </a:stretch>
        </p:blipFill>
        <p:spPr>
          <a:xfrm>
            <a:off x="9875520" y="365760"/>
            <a:ext cx="1554480" cy="421758"/>
          </a:xfrm>
          <a:prstGeom prst="rect">
            <a:avLst/>
          </a:prstGeom>
        </p:spPr>
      </p:pic>
      <p:sp>
        <p:nvSpPr>
          <p:cNvPr id="6" name="Rounded Rectangle 5"/>
          <p:cNvSpPr/>
          <p:nvPr/>
        </p:nvSpPr>
        <p:spPr>
          <a:xfrm>
            <a:off x="731520" y="1371600"/>
            <a:ext cx="10728655"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554480"/>
            <a:ext cx="10180015" cy="4572000"/>
          </a:xfrm>
          <a:prstGeom prst="rect">
            <a:avLst/>
          </a:prstGeom>
          <a:noFill/>
        </p:spPr>
        <p:txBody>
          <a:bodyPr wrap="square">
            <a:spAutoFit/>
          </a:bodyPr>
          <a:lstStyle/>
          <a:p>
            <a:pPr>
              <a:defRPr sz="1100">
                <a:solidFill>
                  <a:srgbClr val="334155"/>
                </a:solidFill>
              </a:defRPr>
            </a:pPr>
            <a:r>
              <a:t>[1]  Lockstone, H. E., et al. (2007). Gene expression profiling in the adult Down syndrome brain. Genomics, 90(6), 647-660.</a:t>
            </a:r>
          </a:p>
          <a:p>
            <a:pPr>
              <a:defRPr sz="1100">
                <a:solidFill>
                  <a:srgbClr val="334155"/>
                </a:solidFill>
              </a:defRPr>
            </a:pPr>
            <a:r>
              <a:t>[2]  Jalbrzikowski, M., et al. (2015). Transcriptomic alterations in 22q11.2 deletion syndrome and their association with psychosis. Molecular Psychiatry, 20(8), 1018-1025.</a:t>
            </a:r>
          </a:p>
          <a:p>
            <a:pPr>
              <a:defRPr sz="1100">
                <a:solidFill>
                  <a:srgbClr val="334155"/>
                </a:solidFill>
              </a:defRPr>
            </a:pPr>
            <a:r>
              <a:t>[3]  Ghaddar, B., &amp; Naoum-Sawaya, J. (2018). High dimensional data classification and feature selection using support vector machines. European Journal of Operational Research, 265(3), 993-1004.</a:t>
            </a:r>
          </a:p>
          <a:p>
            <a:pPr>
              <a:defRPr sz="1100">
                <a:solidFill>
                  <a:srgbClr val="334155"/>
                </a:solidFill>
              </a:defRPr>
            </a:pPr>
            <a:r>
              <a:t>[4]  Pfeifer, B., et al. (2022). Identification of multi-omics biomarkers using explainable artificial intelligence. Genome Medicine, 14(1), 84.</a:t>
            </a:r>
          </a:p>
          <a:p>
            <a:pPr>
              <a:defRPr sz="1100">
                <a:solidFill>
                  <a:srgbClr val="334155"/>
                </a:solidFill>
              </a:defRPr>
            </a:pPr>
            <a:r>
              <a:t>[5]  Lundberg, S. M., &amp; Lee, S. I. (2017). A unified approach to interpreting model predictions. Advances in Neural Information Processing Systems (NeurIPS), 30, 4765-4774.</a:t>
            </a:r>
          </a:p>
          <a:p>
            <a:pPr>
              <a:defRPr sz="1100">
                <a:solidFill>
                  <a:srgbClr val="334155"/>
                </a:solidFill>
              </a:defRPr>
            </a:pPr>
            <a:r>
              <a:t>[6]  Johnson, W. E., Li, C., &amp; Rabinovic, A. (2007). Adjusting batch effects in microarray expression data using empirical Bayes methods. Biostatistics, 8(1), 118-127.</a:t>
            </a:r>
          </a:p>
          <a:p>
            <a:pPr>
              <a:defRPr sz="1100">
                <a:solidFill>
                  <a:srgbClr val="334155"/>
                </a:solidFill>
              </a:defRPr>
            </a:pPr>
            <a:r>
              <a:t>[7]  Cortes, C., &amp; Vapnik, V. (1995). Support-vector networks. Machine Learning, 20(3), 273-297.</a:t>
            </a:r>
          </a:p>
          <a:p>
            <a:pPr>
              <a:defRPr sz="1100">
                <a:solidFill>
                  <a:srgbClr val="334155"/>
                </a:solidFill>
              </a:defRPr>
            </a:pPr>
            <a:r>
              <a:t>[8]  Tibshirani, R. (1996). Regression shrinkage and selection via the lasso. Journal of the Royal Statistical Society: Series B, 58(1), 267-288.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mrita_logo.png"/>
          <p:cNvPicPr>
            <a:picLocks noChangeAspect="1"/>
          </p:cNvPicPr>
          <p:nvPr/>
        </p:nvPicPr>
        <p:blipFill>
          <a:blip r:embed="rId2"/>
          <a:stretch>
            <a:fillRect/>
          </a:stretch>
        </p:blipFill>
        <p:spPr>
          <a:xfrm>
            <a:off x="4023360" y="1097280"/>
            <a:ext cx="4114800" cy="1116419"/>
          </a:xfrm>
          <a:prstGeom prst="rect">
            <a:avLst/>
          </a:prstGeom>
        </p:spPr>
      </p:pic>
      <p:sp>
        <p:nvSpPr>
          <p:cNvPr id="3" name="Rounded Rectangle 2"/>
          <p:cNvSpPr/>
          <p:nvPr/>
        </p:nvSpPr>
        <p:spPr>
          <a:xfrm>
            <a:off x="2286000" y="2560320"/>
            <a:ext cx="7619695"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468880" y="2834640"/>
            <a:ext cx="7253935" cy="2743200"/>
          </a:xfrm>
          <a:prstGeom prst="rect">
            <a:avLst/>
          </a:prstGeom>
          <a:noFill/>
        </p:spPr>
        <p:txBody>
          <a:bodyPr wrap="square">
            <a:spAutoFit/>
          </a:bodyPr>
          <a:lstStyle/>
          <a:p>
            <a:pPr algn="ctr">
              <a:defRPr sz="3600" b="1">
                <a:solidFill>
                  <a:srgbClr val="0F172A"/>
                </a:solidFill>
              </a:defRPr>
            </a:pPr>
            <a:r>
              <a:t>Thank You!</a:t>
            </a:r>
          </a:p>
          <a:p>
            <a:pPr algn="ctr">
              <a:defRPr sz="1400" b="1">
                <a:solidFill>
                  <a:srgbClr val="A21357"/>
                </a:solidFill>
              </a:defRPr>
            </a:pPr>
            <a:r>
              <a:t>Explainable Multi-Omics Framework for Genetic Syndrome Prediction</a:t>
            </a:r>
          </a:p>
          <a:p>
            <a:br/>
            <a:r>
              <a:t>Questions &amp; Discussion</a:t>
            </a:r>
          </a:p>
          <a:p>
            <a:pPr algn="ctr">
              <a:defRPr sz="1100">
                <a:solidFill>
                  <a:srgbClr val="64748B"/>
                </a:solidFill>
              </a:defRPr>
            </a:pPr>
            <a:r>
              <a:t>Live Web Platform: http://localhost:8090 • Codebase: src/pipelines/01_fetch_geo to 07_benchmark_metrics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4435</Words>
  <Application>Microsoft Office PowerPoint</Application>
  <PresentationFormat>Widescreen</PresentationFormat>
  <Paragraphs>275</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NITHIN GIRIBABU</cp:lastModifiedBy>
  <cp:revision>2</cp:revision>
  <dcterms:created xsi:type="dcterms:W3CDTF">2013-01-27T09:14:16Z</dcterms:created>
  <dcterms:modified xsi:type="dcterms:W3CDTF">2026-10-22T18:52:30Z</dcterms:modified>
  <cp:category/>
</cp:coreProperties>
</file>